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Roboto Slab" charset="1" panose="00000000000000000000"/>
      <p:regular r:id="rId18"/>
    </p:embeddedFont>
    <p:embeddedFont>
      <p:font typeface="Roboto" charset="1" panose="02000000000000000000"/>
      <p:regular r:id="rId19"/>
    </p:embeddedFont>
    <p:embeddedFont>
      <p:font typeface="Roboto Slab Light" charset="1" panose="00000000000000000000"/>
      <p:regular r:id="rId22"/>
    </p:embeddedFont>
    <p:embeddedFont>
      <p:font typeface="Roboto Bold" charset="1" panose="020000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notesMasters/notesMaster1.xml" Type="http://schemas.openxmlformats.org/officeDocument/2006/relationships/notesMaster"/><Relationship Id="rId16" Target="theme/theme2.xml" Type="http://schemas.openxmlformats.org/officeDocument/2006/relationships/theme"/><Relationship Id="rId17" Target="notesSlides/notesSlide1.xml" Type="http://schemas.openxmlformats.org/officeDocument/2006/relationships/notes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notesSlides/notesSlide2.xml" Type="http://schemas.openxmlformats.org/officeDocument/2006/relationships/notesSlide"/><Relationship Id="rId21" Target="notesSlides/notesSlide3.xml" Type="http://schemas.openxmlformats.org/officeDocument/2006/relationships/notes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26" Target="notesSlides/notesSlide6.xml" Type="http://schemas.openxmlformats.org/officeDocument/2006/relationships/notesSlide"/><Relationship Id="rId27" Target="notesSlides/notesSlide7.xml" Type="http://schemas.openxmlformats.org/officeDocument/2006/relationships/notesSlide"/><Relationship Id="rId28" Target="notesSlides/notesSlide8.xml" Type="http://schemas.openxmlformats.org/officeDocument/2006/relationships/notesSlide"/><Relationship Id="rId29" Target="notesSlides/notesSlide9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3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11" Target="../media/image13.svg" Type="http://schemas.openxmlformats.org/officeDocument/2006/relationships/image"/><Relationship Id="rId12" Target="../media/image14.png" Type="http://schemas.openxmlformats.org/officeDocument/2006/relationships/image"/><Relationship Id="rId13" Target="../media/image15.png" Type="http://schemas.openxmlformats.org/officeDocument/2006/relationships/image"/><Relationship Id="rId14" Target="../media/image16.svg" Type="http://schemas.openxmlformats.org/officeDocument/2006/relationships/image"/><Relationship Id="rId2" Target="../notesSlides/notesSlide5.xml" Type="http://schemas.openxmlformats.org/officeDocument/2006/relationships/notesSlid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7.pn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svg" Type="http://schemas.openxmlformats.org/officeDocument/2006/relationships/image"/><Relationship Id="rId2" Target="../notesSlides/notesSlide7.xml" Type="http://schemas.openxmlformats.org/officeDocument/2006/relationships/notesSlide"/><Relationship Id="rId3" Target="../media/image20.png" Type="http://schemas.openxmlformats.org/officeDocument/2006/relationships/image"/><Relationship Id="rId4" Target="../media/image21.svg" Type="http://schemas.openxmlformats.org/officeDocument/2006/relationships/image"/><Relationship Id="rId5" Target="../media/image22.png" Type="http://schemas.openxmlformats.org/officeDocument/2006/relationships/image"/><Relationship Id="rId6" Target="../media/image23.svg" Type="http://schemas.openxmlformats.org/officeDocument/2006/relationships/image"/><Relationship Id="rId7" Target="../media/image24.png" Type="http://schemas.openxmlformats.org/officeDocument/2006/relationships/image"/><Relationship Id="rId8" Target="../media/image25.svg" Type="http://schemas.openxmlformats.org/officeDocument/2006/relationships/image"/><Relationship Id="rId9" Target="../media/image2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5.svg" Type="http://schemas.openxmlformats.org/officeDocument/2006/relationships/image"/><Relationship Id="rId2" Target="../notesSlides/notesSlide8.xml" Type="http://schemas.openxmlformats.org/officeDocument/2006/relationships/notesSlide"/><Relationship Id="rId3" Target="../media/image28.png" Type="http://schemas.openxmlformats.org/officeDocument/2006/relationships/image"/><Relationship Id="rId4" Target="../media/image29.svg" Type="http://schemas.openxmlformats.org/officeDocument/2006/relationships/image"/><Relationship Id="rId5" Target="../media/image30.png" Type="http://schemas.openxmlformats.org/officeDocument/2006/relationships/image"/><Relationship Id="rId6" Target="../media/image31.svg" Type="http://schemas.openxmlformats.org/officeDocument/2006/relationships/image"/><Relationship Id="rId7" Target="../media/image32.png" Type="http://schemas.openxmlformats.org/officeDocument/2006/relationships/image"/><Relationship Id="rId8" Target="../media/image33.svg" Type="http://schemas.openxmlformats.org/officeDocument/2006/relationships/image"/><Relationship Id="rId9" Target="../media/image3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71B2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name="Freeform 5" id="5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1571" r="-1" b="-3157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02733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772269" y="2720456"/>
            <a:ext cx="16743462" cy="80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35"/>
              </a:lnSpc>
            </a:pPr>
            <a:r>
              <a:rPr lang="en-US" sz="5174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AI - Based </a:t>
            </a:r>
            <a:r>
              <a:rPr lang="en-US" sz="5174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Forest Loss Detection Using Deep Learning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5437737"/>
            <a:ext cx="16303523" cy="1287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18"/>
              </a:lnSpc>
            </a:pPr>
            <a:r>
              <a:rPr lang="en-US" sz="3237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Milestone 4: Model Training</a:t>
            </a:r>
          </a:p>
          <a:p>
            <a:pPr algn="ctr">
              <a:lnSpc>
                <a:spcPts val="5221"/>
              </a:lnSpc>
            </a:pPr>
            <a:r>
              <a:rPr lang="en-US" sz="3237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Group 5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71B2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name="Freeform 5" id="5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1571" r="-1" b="-3157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02733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992238" y="2377383"/>
            <a:ext cx="6202261" cy="784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62"/>
              </a:lnSpc>
            </a:pPr>
            <a:r>
              <a:rPr lang="en-US" sz="4875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Dataset Overview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3782016"/>
            <a:ext cx="3101130" cy="387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37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Source Data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4322416"/>
            <a:ext cx="7849191" cy="889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Sentinel-1 SAR (VV/VH) and Sentinel-2 optical (B2/B3/B4/B8) imagery from Meghalaya and Nagaland regions, 2021-2023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56096" y="3782016"/>
            <a:ext cx="3101130" cy="387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37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Image Specifications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56096" y="4322416"/>
            <a:ext cx="7849191" cy="889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256×256 pixel patches with 6 input channels per time step (t1 and t2), 10m resolution, bi-temporal satellite data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2238" y="5961612"/>
            <a:ext cx="5227739" cy="694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7"/>
              </a:lnSpc>
            </a:pPr>
            <a:r>
              <a:rPr lang="en-US" sz="6437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7,500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055466" y="6966499"/>
            <a:ext cx="3101130" cy="387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37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Total Samples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92238" y="7407773"/>
            <a:ext cx="5227739" cy="492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5"/>
              </a:lnSpc>
            </a:pPr>
            <a:r>
              <a:rPr lang="en-US" sz="1937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Patches across two geographic regions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529978" y="5961612"/>
            <a:ext cx="5227882" cy="694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7"/>
              </a:lnSpc>
            </a:pPr>
            <a:r>
              <a:rPr lang="en-US" sz="6437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6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593359" y="6966499"/>
            <a:ext cx="3101130" cy="387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37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Input Channels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529978" y="7407773"/>
            <a:ext cx="5227882" cy="492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5"/>
              </a:lnSpc>
            </a:pPr>
            <a:r>
              <a:rPr lang="en-US" sz="1937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Multi-spectral satellite bands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067880" y="5961612"/>
            <a:ext cx="5227882" cy="694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7"/>
              </a:lnSpc>
            </a:pPr>
            <a:r>
              <a:rPr lang="en-US" sz="6437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131251" y="6966499"/>
            <a:ext cx="3101130" cy="387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37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Time Periods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067880" y="7407773"/>
            <a:ext cx="5227882" cy="492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5"/>
              </a:lnSpc>
            </a:pPr>
            <a:r>
              <a:rPr lang="en-US" sz="1937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Bi-temporal image pairs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71B2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0273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747542"/>
            <a:ext cx="12387415" cy="784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62"/>
              </a:lnSpc>
            </a:pPr>
            <a:r>
              <a:rPr lang="en-US" sz="4875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Baseline Model: Siamese U-Net with ASPP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2952007"/>
            <a:ext cx="247945" cy="386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D6E5EF"/>
                </a:solidFill>
                <a:latin typeface="Roboto Slab Light"/>
                <a:ea typeface="Roboto Slab Light"/>
                <a:cs typeface="Roboto Slab Light"/>
                <a:sym typeface="Roboto Slab Light"/>
              </a:rPr>
              <a:t>01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2238" y="3421113"/>
            <a:ext cx="8027784" cy="28575"/>
            <a:chOff x="0" y="0"/>
            <a:chExt cx="10703712" cy="381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10703687" cy="38100"/>
            </a:xfrm>
            <a:custGeom>
              <a:avLst/>
              <a:gdLst/>
              <a:ahLst/>
              <a:cxnLst/>
              <a:rect r="r" b="b" t="t" l="l"/>
              <a:pathLst>
                <a:path h="38100" w="10703687">
                  <a:moveTo>
                    <a:pt x="0" y="0"/>
                  </a:moveTo>
                  <a:lnTo>
                    <a:pt x="10703687" y="0"/>
                  </a:lnTo>
                  <a:lnTo>
                    <a:pt x="10703687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1" t="0" r="-11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238" y="3602241"/>
            <a:ext cx="3101130" cy="387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37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Shared Encoder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4043515"/>
            <a:ext cx="8027784" cy="889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Two parallel encoder paths process t1 and t2 images independently using identical convolutional blocks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267977" y="2952007"/>
            <a:ext cx="247945" cy="386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D6E5EF"/>
                </a:solidFill>
                <a:latin typeface="Roboto Slab Light"/>
                <a:ea typeface="Roboto Slab Light"/>
                <a:cs typeface="Roboto Slab Light"/>
                <a:sym typeface="Roboto Slab Light"/>
              </a:rPr>
              <a:t>02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267977" y="3445821"/>
            <a:ext cx="8027784" cy="28575"/>
            <a:chOff x="0" y="0"/>
            <a:chExt cx="10703712" cy="38100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10703687" cy="38100"/>
            </a:xfrm>
            <a:custGeom>
              <a:avLst/>
              <a:gdLst/>
              <a:ahLst/>
              <a:cxnLst/>
              <a:rect r="r" b="b" t="t" l="l"/>
              <a:pathLst>
                <a:path h="38100" w="10703687">
                  <a:moveTo>
                    <a:pt x="0" y="0"/>
                  </a:moveTo>
                  <a:lnTo>
                    <a:pt x="10703687" y="0"/>
                  </a:lnTo>
                  <a:lnTo>
                    <a:pt x="10703687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1" t="0" r="-11" b="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9267977" y="3602241"/>
            <a:ext cx="3101130" cy="387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37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Feature Difference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267977" y="4043515"/>
            <a:ext cx="8027784" cy="492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Absolute difference between encoded features highlights change regions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92238" y="5290395"/>
            <a:ext cx="247945" cy="386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D6E5EF"/>
                </a:solidFill>
                <a:latin typeface="Roboto Slab Light"/>
                <a:ea typeface="Roboto Slab Light"/>
                <a:cs typeface="Roboto Slab Light"/>
                <a:sym typeface="Roboto Slab Light"/>
              </a:rPr>
              <a:t>03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92238" y="5734641"/>
            <a:ext cx="8027784" cy="28575"/>
            <a:chOff x="0" y="0"/>
            <a:chExt cx="10703712" cy="38100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10703687" cy="38100"/>
            </a:xfrm>
            <a:custGeom>
              <a:avLst/>
              <a:gdLst/>
              <a:ahLst/>
              <a:cxnLst/>
              <a:rect r="r" b="b" t="t" l="l"/>
              <a:pathLst>
                <a:path h="38100" w="10703687">
                  <a:moveTo>
                    <a:pt x="0" y="0"/>
                  </a:moveTo>
                  <a:lnTo>
                    <a:pt x="10703687" y="0"/>
                  </a:lnTo>
                  <a:lnTo>
                    <a:pt x="10703687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1" t="0" r="-11" b="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992238" y="5940628"/>
            <a:ext cx="3101130" cy="387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37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ASPP Bottleneck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92238" y="6381902"/>
            <a:ext cx="8027784" cy="889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Atrous Spatial Pyramid Pooling captures multi-scale context for detecting various deforestation patterns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267977" y="5290395"/>
            <a:ext cx="247945" cy="386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D6E5EF"/>
                </a:solidFill>
                <a:latin typeface="Roboto Slab Light"/>
                <a:ea typeface="Roboto Slab Light"/>
                <a:cs typeface="Roboto Slab Light"/>
                <a:sym typeface="Roboto Slab Light"/>
              </a:rPr>
              <a:t>04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267977" y="5734641"/>
            <a:ext cx="8027784" cy="28575"/>
            <a:chOff x="0" y="0"/>
            <a:chExt cx="10703712" cy="38100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10703687" cy="38100"/>
            </a:xfrm>
            <a:custGeom>
              <a:avLst/>
              <a:gdLst/>
              <a:ahLst/>
              <a:cxnLst/>
              <a:rect r="r" b="b" t="t" l="l"/>
              <a:pathLst>
                <a:path h="38100" w="10703687">
                  <a:moveTo>
                    <a:pt x="0" y="0"/>
                  </a:moveTo>
                  <a:lnTo>
                    <a:pt x="10703687" y="0"/>
                  </a:lnTo>
                  <a:lnTo>
                    <a:pt x="10703687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1" t="0" r="-11" b="0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9267977" y="5940628"/>
            <a:ext cx="3101130" cy="387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37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Skip Connections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267977" y="6381902"/>
            <a:ext cx="8027784" cy="889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Decoder fuses features from both time steps with skip connections for precise localization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92238" y="7640841"/>
            <a:ext cx="16303523" cy="889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 b="true">
                <a:solidFill>
                  <a:srgbClr val="D6E5EF"/>
                </a:solidFill>
                <a:latin typeface="Roboto Bold"/>
                <a:ea typeface="Roboto Bold"/>
                <a:cs typeface="Roboto Bold"/>
                <a:sym typeface="Roboto Bold"/>
              </a:rPr>
              <a:t>Loss Function:</a:t>
            </a:r>
            <a:r>
              <a:rPr lang="en-US" sz="1937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 Hybrid of Binary Cross-Entropy (BCE) and Dice Loss (0.5 weight each) balances class imbalance while optimizing segmentation quality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71B2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0273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48328" y="688924"/>
            <a:ext cx="8045206" cy="769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12"/>
              </a:lnSpc>
            </a:pPr>
            <a:r>
              <a:rPr lang="en-US" sz="4625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Baseline Model Performance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516954" y="3538385"/>
            <a:ext cx="2916441" cy="507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5"/>
              </a:lnSpc>
            </a:pPr>
            <a:r>
              <a:rPr lang="en-US" sz="4625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0.49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3196981" y="1970780"/>
            <a:ext cx="3556692" cy="3556692"/>
            <a:chOff x="0" y="0"/>
            <a:chExt cx="4742256" cy="4742256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4742307" cy="4742307"/>
            </a:xfrm>
            <a:custGeom>
              <a:avLst/>
              <a:gdLst/>
              <a:ahLst/>
              <a:cxnLst/>
              <a:rect r="r" b="b" t="t" l="l"/>
              <a:pathLst>
                <a:path h="4742307" w="4742307">
                  <a:moveTo>
                    <a:pt x="0" y="0"/>
                  </a:moveTo>
                  <a:lnTo>
                    <a:pt x="4742307" y="0"/>
                  </a:lnTo>
                  <a:lnTo>
                    <a:pt x="4742307" y="4742307"/>
                  </a:lnTo>
                  <a:lnTo>
                    <a:pt x="0" y="47423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1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3493294" y="5813222"/>
            <a:ext cx="2963913" cy="370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5"/>
              </a:lnSpc>
            </a:pPr>
            <a:r>
              <a:rPr lang="en-US" sz="2312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F1-Score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8328" y="6243485"/>
            <a:ext cx="8053978" cy="447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5"/>
              </a:lnSpc>
            </a:pPr>
            <a:r>
              <a:rPr lang="en-US" sz="1812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Balance between precision and recall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854158" y="3538385"/>
            <a:ext cx="2916441" cy="507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5"/>
              </a:lnSpc>
            </a:pPr>
            <a:r>
              <a:rPr lang="en-US" sz="4625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0.33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1534184" y="1970780"/>
            <a:ext cx="3556692" cy="3556692"/>
            <a:chOff x="0" y="0"/>
            <a:chExt cx="4742256" cy="4742256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4742307" cy="4742307"/>
            </a:xfrm>
            <a:custGeom>
              <a:avLst/>
              <a:gdLst/>
              <a:ahLst/>
              <a:cxnLst/>
              <a:rect r="r" b="b" t="t" l="l"/>
              <a:pathLst>
                <a:path h="4742307" w="4742307">
                  <a:moveTo>
                    <a:pt x="0" y="0"/>
                  </a:moveTo>
                  <a:lnTo>
                    <a:pt x="4742307" y="0"/>
                  </a:lnTo>
                  <a:lnTo>
                    <a:pt x="4742307" y="4742307"/>
                  </a:lnTo>
                  <a:lnTo>
                    <a:pt x="0" y="47423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1" b="1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1830641" y="5813222"/>
            <a:ext cx="2963913" cy="370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5"/>
              </a:lnSpc>
            </a:pPr>
            <a:r>
              <a:rPr lang="en-US" sz="2312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IoU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285532" y="6243485"/>
            <a:ext cx="8054130" cy="447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5"/>
              </a:lnSpc>
            </a:pPr>
            <a:r>
              <a:rPr lang="en-US" sz="1812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Intersection over Union metric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48328" y="7172030"/>
            <a:ext cx="2963913" cy="370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Strengths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48328" y="7692923"/>
            <a:ext cx="7906493" cy="1797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73348" indent="-136674" lvl="1">
              <a:lnSpc>
                <a:spcPts val="2875"/>
              </a:lnSpc>
              <a:buFont typeface="Arial"/>
              <a:buChar char="•"/>
            </a:pPr>
            <a:r>
              <a:rPr lang="en-US" sz="1812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Stable convergence over 50 epochs</a:t>
            </a:r>
          </a:p>
          <a:p>
            <a:pPr algn="l" marL="273348" indent="-136674" lvl="1">
              <a:lnSpc>
                <a:spcPts val="2875"/>
              </a:lnSpc>
              <a:buFont typeface="Arial"/>
              <a:buChar char="•"/>
            </a:pPr>
            <a:r>
              <a:rPr lang="en-US" sz="1812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Handles multi-scale deforestation patterns</a:t>
            </a:r>
          </a:p>
          <a:p>
            <a:pPr algn="l" marL="273348" indent="-136674" lvl="1">
              <a:lnSpc>
                <a:spcPts val="2875"/>
              </a:lnSpc>
              <a:buFont typeface="Arial"/>
              <a:buChar char="•"/>
            </a:pPr>
            <a:r>
              <a:rPr lang="en-US" sz="1812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Siamese architecture ensures consistent feature representation</a:t>
            </a:r>
          </a:p>
          <a:p>
            <a:pPr algn="l" marL="273348" indent="-136674" lvl="1">
              <a:lnSpc>
                <a:spcPts val="2875"/>
              </a:lnSpc>
              <a:buFont typeface="Arial"/>
              <a:buChar char="•"/>
            </a:pPr>
            <a:r>
              <a:rPr lang="en-US" sz="1812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Memory-efficient with 1.8M parameters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442694" y="7172030"/>
            <a:ext cx="2963913" cy="370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Shortcomings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442694" y="7692923"/>
            <a:ext cx="7906493" cy="1797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73348" indent="-136674" lvl="1">
              <a:lnSpc>
                <a:spcPts val="2875"/>
              </a:lnSpc>
              <a:buFont typeface="Arial"/>
              <a:buChar char="•"/>
            </a:pPr>
            <a:r>
              <a:rPr lang="en-US" sz="1812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Performance plateaus after 25-30 epochs</a:t>
            </a:r>
          </a:p>
          <a:p>
            <a:pPr algn="l" marL="273348" indent="-136674" lvl="1">
              <a:lnSpc>
                <a:spcPts val="2875"/>
              </a:lnSpc>
              <a:buFont typeface="Arial"/>
              <a:buChar char="•"/>
            </a:pPr>
            <a:r>
              <a:rPr lang="en-US" sz="1812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Weak detection of sparse change regions</a:t>
            </a:r>
          </a:p>
          <a:p>
            <a:pPr algn="l" marL="273348" indent="-136674" lvl="1">
              <a:lnSpc>
                <a:spcPts val="2875"/>
              </a:lnSpc>
              <a:buFont typeface="Arial"/>
              <a:buChar char="•"/>
            </a:pPr>
            <a:r>
              <a:rPr lang="en-US" sz="1812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Fixed threshold (0.3) suboptimal for class imbalance</a:t>
            </a:r>
          </a:p>
          <a:p>
            <a:pPr algn="l" marL="273348" indent="-136674" lvl="1">
              <a:lnSpc>
                <a:spcPts val="2875"/>
              </a:lnSpc>
              <a:buFont typeface="Arial"/>
              <a:buChar char="•"/>
            </a:pPr>
            <a:r>
              <a:rPr lang="en-US" sz="1812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Training from scratch limits feature learning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71B2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0273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218009"/>
            <a:ext cx="12901317" cy="784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62"/>
              </a:lnSpc>
            </a:pPr>
            <a:r>
              <a:rPr lang="en-US" sz="4875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Improvement 1: Enhanced Training Pipeline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238" y="2498674"/>
            <a:ext cx="8027784" cy="2818362"/>
            <a:chOff x="0" y="0"/>
            <a:chExt cx="10703712" cy="375781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703814" cy="3757803"/>
            </a:xfrm>
            <a:custGeom>
              <a:avLst/>
              <a:gdLst/>
              <a:ahLst/>
              <a:cxnLst/>
              <a:rect r="r" b="b" t="t" l="l"/>
              <a:pathLst>
                <a:path h="3757803" w="10703814">
                  <a:moveTo>
                    <a:pt x="0" y="49657"/>
                  </a:moveTo>
                  <a:cubicBezTo>
                    <a:pt x="0" y="22225"/>
                    <a:pt x="22225" y="0"/>
                    <a:pt x="49657" y="0"/>
                  </a:cubicBezTo>
                  <a:lnTo>
                    <a:pt x="10654157" y="0"/>
                  </a:lnTo>
                  <a:cubicBezTo>
                    <a:pt x="10681589" y="0"/>
                    <a:pt x="10703814" y="22225"/>
                    <a:pt x="10703814" y="49657"/>
                  </a:cubicBezTo>
                  <a:lnTo>
                    <a:pt x="10703814" y="3708146"/>
                  </a:lnTo>
                  <a:cubicBezTo>
                    <a:pt x="10703814" y="3735578"/>
                    <a:pt x="10681589" y="3757803"/>
                    <a:pt x="10654157" y="3757803"/>
                  </a:cubicBezTo>
                  <a:lnTo>
                    <a:pt x="49657" y="3757803"/>
                  </a:lnTo>
                  <a:cubicBezTo>
                    <a:pt x="22225" y="3757803"/>
                    <a:pt x="0" y="3735578"/>
                    <a:pt x="0" y="3708146"/>
                  </a:cubicBezTo>
                  <a:close/>
                </a:path>
              </a:pathLst>
            </a:custGeom>
            <a:solidFill>
              <a:srgbClr val="3F4652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240184" y="2746619"/>
            <a:ext cx="744141" cy="744141"/>
            <a:chOff x="0" y="0"/>
            <a:chExt cx="992188" cy="992188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992251" cy="992251"/>
            </a:xfrm>
            <a:custGeom>
              <a:avLst/>
              <a:gdLst/>
              <a:ahLst/>
              <a:cxnLst/>
              <a:rect r="r" b="b" t="t" l="l"/>
              <a:pathLst>
                <a:path h="992251" w="992251">
                  <a:moveTo>
                    <a:pt x="0" y="0"/>
                  </a:moveTo>
                  <a:lnTo>
                    <a:pt x="992251" y="0"/>
                  </a:lnTo>
                  <a:lnTo>
                    <a:pt x="992251" y="992251"/>
                  </a:lnTo>
                  <a:lnTo>
                    <a:pt x="0" y="9922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6" b="6"/>
              </a:stretch>
            </a:blipFill>
          </p:spPr>
        </p:sp>
      </p:grpSp>
      <p:sp>
        <p:nvSpPr>
          <p:cNvPr name="Freeform 11" id="11" descr="preencoded.png"/>
          <p:cNvSpPr/>
          <p:nvPr/>
        </p:nvSpPr>
        <p:spPr>
          <a:xfrm flipH="false" flipV="false" rot="0">
            <a:off x="1444828" y="2951112"/>
            <a:ext cx="334861" cy="334861"/>
          </a:xfrm>
          <a:custGeom>
            <a:avLst/>
            <a:gdLst/>
            <a:ahLst/>
            <a:cxnLst/>
            <a:rect r="r" b="b" t="t" l="l"/>
            <a:pathLst>
              <a:path h="334861" w="334861">
                <a:moveTo>
                  <a:pt x="0" y="0"/>
                </a:moveTo>
                <a:lnTo>
                  <a:pt x="334861" y="0"/>
                </a:lnTo>
                <a:lnTo>
                  <a:pt x="334861" y="334861"/>
                </a:lnTo>
                <a:lnTo>
                  <a:pt x="0" y="3348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388" t="0" r="-139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240184" y="3738715"/>
            <a:ext cx="3101130" cy="387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37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Data Augmentation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40184" y="4179989"/>
            <a:ext cx="7531894" cy="889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Random horizontal/vertical flips and 90° rotations increase training diversity and improve generalization to varied orientations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267977" y="2498674"/>
            <a:ext cx="8027784" cy="2818362"/>
            <a:chOff x="0" y="0"/>
            <a:chExt cx="10703712" cy="375781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703814" cy="3757803"/>
            </a:xfrm>
            <a:custGeom>
              <a:avLst/>
              <a:gdLst/>
              <a:ahLst/>
              <a:cxnLst/>
              <a:rect r="r" b="b" t="t" l="l"/>
              <a:pathLst>
                <a:path h="3757803" w="10703814">
                  <a:moveTo>
                    <a:pt x="0" y="49657"/>
                  </a:moveTo>
                  <a:cubicBezTo>
                    <a:pt x="0" y="22225"/>
                    <a:pt x="22225" y="0"/>
                    <a:pt x="49657" y="0"/>
                  </a:cubicBezTo>
                  <a:lnTo>
                    <a:pt x="10654157" y="0"/>
                  </a:lnTo>
                  <a:cubicBezTo>
                    <a:pt x="10681589" y="0"/>
                    <a:pt x="10703814" y="22225"/>
                    <a:pt x="10703814" y="49657"/>
                  </a:cubicBezTo>
                  <a:lnTo>
                    <a:pt x="10703814" y="3708146"/>
                  </a:lnTo>
                  <a:cubicBezTo>
                    <a:pt x="10703814" y="3735578"/>
                    <a:pt x="10681589" y="3757803"/>
                    <a:pt x="10654157" y="3757803"/>
                  </a:cubicBezTo>
                  <a:lnTo>
                    <a:pt x="49657" y="3757803"/>
                  </a:lnTo>
                  <a:cubicBezTo>
                    <a:pt x="22225" y="3757803"/>
                    <a:pt x="0" y="3735578"/>
                    <a:pt x="0" y="3708146"/>
                  </a:cubicBezTo>
                  <a:close/>
                </a:path>
              </a:pathLst>
            </a:custGeom>
            <a:solidFill>
              <a:srgbClr val="3F4652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515923" y="2746619"/>
            <a:ext cx="744141" cy="744141"/>
            <a:chOff x="0" y="0"/>
            <a:chExt cx="992188" cy="992188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992251" cy="992251"/>
            </a:xfrm>
            <a:custGeom>
              <a:avLst/>
              <a:gdLst/>
              <a:ahLst/>
              <a:cxnLst/>
              <a:rect r="r" b="b" t="t" l="l"/>
              <a:pathLst>
                <a:path h="992251" w="992251">
                  <a:moveTo>
                    <a:pt x="0" y="0"/>
                  </a:moveTo>
                  <a:lnTo>
                    <a:pt x="992251" y="0"/>
                  </a:lnTo>
                  <a:lnTo>
                    <a:pt x="992251" y="992251"/>
                  </a:lnTo>
                  <a:lnTo>
                    <a:pt x="0" y="9922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6" b="6"/>
              </a:stretch>
            </a:blipFill>
          </p:spPr>
        </p:sp>
      </p:grpSp>
      <p:sp>
        <p:nvSpPr>
          <p:cNvPr name="Freeform 18" id="18" descr="preencoded.png"/>
          <p:cNvSpPr/>
          <p:nvPr/>
        </p:nvSpPr>
        <p:spPr>
          <a:xfrm flipH="false" flipV="false" rot="0">
            <a:off x="9720558" y="2951112"/>
            <a:ext cx="334861" cy="334861"/>
          </a:xfrm>
          <a:custGeom>
            <a:avLst/>
            <a:gdLst/>
            <a:ahLst/>
            <a:cxnLst/>
            <a:rect r="r" b="b" t="t" l="l"/>
            <a:pathLst>
              <a:path h="334861" w="334861">
                <a:moveTo>
                  <a:pt x="0" y="0"/>
                </a:moveTo>
                <a:lnTo>
                  <a:pt x="334861" y="0"/>
                </a:lnTo>
                <a:lnTo>
                  <a:pt x="334861" y="334861"/>
                </a:lnTo>
                <a:lnTo>
                  <a:pt x="0" y="33486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9515923" y="3738715"/>
            <a:ext cx="3101130" cy="387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37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Focal Loss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515923" y="4179989"/>
            <a:ext cx="7531894" cy="889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Replaces BCE with α=0.8, γ=2 to emphasize hard-to-detect sparse change regions while down-weighting easy negatives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92238" y="5564981"/>
            <a:ext cx="8027784" cy="2818362"/>
            <a:chOff x="0" y="0"/>
            <a:chExt cx="10703712" cy="375781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703814" cy="3757803"/>
            </a:xfrm>
            <a:custGeom>
              <a:avLst/>
              <a:gdLst/>
              <a:ahLst/>
              <a:cxnLst/>
              <a:rect r="r" b="b" t="t" l="l"/>
              <a:pathLst>
                <a:path h="3757803" w="10703814">
                  <a:moveTo>
                    <a:pt x="0" y="49657"/>
                  </a:moveTo>
                  <a:cubicBezTo>
                    <a:pt x="0" y="22225"/>
                    <a:pt x="22225" y="0"/>
                    <a:pt x="49657" y="0"/>
                  </a:cubicBezTo>
                  <a:lnTo>
                    <a:pt x="10654157" y="0"/>
                  </a:lnTo>
                  <a:cubicBezTo>
                    <a:pt x="10681589" y="0"/>
                    <a:pt x="10703814" y="22225"/>
                    <a:pt x="10703814" y="49657"/>
                  </a:cubicBezTo>
                  <a:lnTo>
                    <a:pt x="10703814" y="3708146"/>
                  </a:lnTo>
                  <a:cubicBezTo>
                    <a:pt x="10703814" y="3735578"/>
                    <a:pt x="10681589" y="3757803"/>
                    <a:pt x="10654157" y="3757803"/>
                  </a:cubicBezTo>
                  <a:lnTo>
                    <a:pt x="49657" y="3757803"/>
                  </a:lnTo>
                  <a:cubicBezTo>
                    <a:pt x="22225" y="3757803"/>
                    <a:pt x="0" y="3735578"/>
                    <a:pt x="0" y="3708146"/>
                  </a:cubicBezTo>
                  <a:close/>
                </a:path>
              </a:pathLst>
            </a:custGeom>
            <a:solidFill>
              <a:srgbClr val="3F4652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240184" y="5812927"/>
            <a:ext cx="744141" cy="744141"/>
            <a:chOff x="0" y="0"/>
            <a:chExt cx="992188" cy="992188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992251" cy="992251"/>
            </a:xfrm>
            <a:custGeom>
              <a:avLst/>
              <a:gdLst/>
              <a:ahLst/>
              <a:cxnLst/>
              <a:rect r="r" b="b" t="t" l="l"/>
              <a:pathLst>
                <a:path h="992251" w="992251">
                  <a:moveTo>
                    <a:pt x="0" y="0"/>
                  </a:moveTo>
                  <a:lnTo>
                    <a:pt x="992251" y="0"/>
                  </a:lnTo>
                  <a:lnTo>
                    <a:pt x="992251" y="992251"/>
                  </a:lnTo>
                  <a:lnTo>
                    <a:pt x="0" y="9922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6" b="6"/>
              </a:stretch>
            </a:blipFill>
          </p:spPr>
        </p:sp>
      </p:grpSp>
      <p:sp>
        <p:nvSpPr>
          <p:cNvPr name="Freeform 25" id="25" descr="preencoded.png"/>
          <p:cNvSpPr/>
          <p:nvPr/>
        </p:nvSpPr>
        <p:spPr>
          <a:xfrm flipH="false" flipV="false" rot="0">
            <a:off x="1444828" y="6017419"/>
            <a:ext cx="334861" cy="334861"/>
          </a:xfrm>
          <a:custGeom>
            <a:avLst/>
            <a:gdLst/>
            <a:ahLst/>
            <a:cxnLst/>
            <a:rect r="r" b="b" t="t" l="l"/>
            <a:pathLst>
              <a:path h="334861" w="334861">
                <a:moveTo>
                  <a:pt x="0" y="0"/>
                </a:moveTo>
                <a:lnTo>
                  <a:pt x="334861" y="0"/>
                </a:lnTo>
                <a:lnTo>
                  <a:pt x="334861" y="334861"/>
                </a:lnTo>
                <a:lnTo>
                  <a:pt x="0" y="33486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4167" t="0" r="-4167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240184" y="6805022"/>
            <a:ext cx="3101130" cy="387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37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Dynamic Threshold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40184" y="7246296"/>
            <a:ext cx="7531894" cy="889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Optimize threshold on validation set (0.1-0.6 range) to maximize F1-score instead of fixed 0.3 cutoff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267977" y="5564981"/>
            <a:ext cx="8027784" cy="2818362"/>
            <a:chOff x="0" y="0"/>
            <a:chExt cx="10703712" cy="375781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703814" cy="3757803"/>
            </a:xfrm>
            <a:custGeom>
              <a:avLst/>
              <a:gdLst/>
              <a:ahLst/>
              <a:cxnLst/>
              <a:rect r="r" b="b" t="t" l="l"/>
              <a:pathLst>
                <a:path h="3757803" w="10703814">
                  <a:moveTo>
                    <a:pt x="0" y="49657"/>
                  </a:moveTo>
                  <a:cubicBezTo>
                    <a:pt x="0" y="22225"/>
                    <a:pt x="22225" y="0"/>
                    <a:pt x="49657" y="0"/>
                  </a:cubicBezTo>
                  <a:lnTo>
                    <a:pt x="10654157" y="0"/>
                  </a:lnTo>
                  <a:cubicBezTo>
                    <a:pt x="10681589" y="0"/>
                    <a:pt x="10703814" y="22225"/>
                    <a:pt x="10703814" y="49657"/>
                  </a:cubicBezTo>
                  <a:lnTo>
                    <a:pt x="10703814" y="3708146"/>
                  </a:lnTo>
                  <a:cubicBezTo>
                    <a:pt x="10703814" y="3735578"/>
                    <a:pt x="10681589" y="3757803"/>
                    <a:pt x="10654157" y="3757803"/>
                  </a:cubicBezTo>
                  <a:lnTo>
                    <a:pt x="49657" y="3757803"/>
                  </a:lnTo>
                  <a:cubicBezTo>
                    <a:pt x="22225" y="3757803"/>
                    <a:pt x="0" y="3735578"/>
                    <a:pt x="0" y="3708146"/>
                  </a:cubicBezTo>
                  <a:close/>
                </a:path>
              </a:pathLst>
            </a:custGeom>
            <a:solidFill>
              <a:srgbClr val="3F4652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515923" y="5812927"/>
            <a:ext cx="744141" cy="744141"/>
            <a:chOff x="0" y="0"/>
            <a:chExt cx="992188" cy="992188"/>
          </a:xfrm>
        </p:grpSpPr>
        <p:sp>
          <p:nvSpPr>
            <p:cNvPr name="Freeform 31" id="31" descr="preencoded.png"/>
            <p:cNvSpPr/>
            <p:nvPr/>
          </p:nvSpPr>
          <p:spPr>
            <a:xfrm flipH="false" flipV="false" rot="0">
              <a:off x="0" y="0"/>
              <a:ext cx="992251" cy="992251"/>
            </a:xfrm>
            <a:custGeom>
              <a:avLst/>
              <a:gdLst/>
              <a:ahLst/>
              <a:cxnLst/>
              <a:rect r="r" b="b" t="t" l="l"/>
              <a:pathLst>
                <a:path h="992251" w="992251">
                  <a:moveTo>
                    <a:pt x="0" y="0"/>
                  </a:moveTo>
                  <a:lnTo>
                    <a:pt x="992251" y="0"/>
                  </a:lnTo>
                  <a:lnTo>
                    <a:pt x="992251" y="992251"/>
                  </a:lnTo>
                  <a:lnTo>
                    <a:pt x="0" y="9922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6" b="6"/>
              </a:stretch>
            </a:blipFill>
          </p:spPr>
        </p:sp>
      </p:grpSp>
      <p:sp>
        <p:nvSpPr>
          <p:cNvPr name="Freeform 32" id="32" descr="preencoded.png"/>
          <p:cNvSpPr/>
          <p:nvPr/>
        </p:nvSpPr>
        <p:spPr>
          <a:xfrm flipH="false" flipV="false" rot="0">
            <a:off x="9720558" y="6017419"/>
            <a:ext cx="334861" cy="334861"/>
          </a:xfrm>
          <a:custGeom>
            <a:avLst/>
            <a:gdLst/>
            <a:ahLst/>
            <a:cxnLst/>
            <a:rect r="r" b="b" t="t" l="l"/>
            <a:pathLst>
              <a:path h="334861" w="334861">
                <a:moveTo>
                  <a:pt x="0" y="0"/>
                </a:moveTo>
                <a:lnTo>
                  <a:pt x="334861" y="0"/>
                </a:lnTo>
                <a:lnTo>
                  <a:pt x="334861" y="334861"/>
                </a:lnTo>
                <a:lnTo>
                  <a:pt x="0" y="33486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9515923" y="6805022"/>
            <a:ext cx="3101130" cy="387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37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LR Scheduler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515923" y="7246296"/>
            <a:ext cx="7531894" cy="889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ReduceLROnPlateau reduces learning rate by 0.5× when validation IoU plateaus, enabling finer convergence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92238" y="8567147"/>
            <a:ext cx="16303523" cy="492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 b="true">
                <a:solidFill>
                  <a:srgbClr val="D6E5EF"/>
                </a:solidFill>
                <a:latin typeface="Roboto Bold"/>
                <a:ea typeface="Roboto Bold"/>
                <a:cs typeface="Roboto Bold"/>
                <a:sym typeface="Roboto Bold"/>
              </a:rPr>
              <a:t>Impact:</a:t>
            </a:r>
            <a:r>
              <a:rPr lang="en-US" sz="1937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 F1-score improved from baseline through better handling of class imbalance and adaptive optimization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71B2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0273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701431"/>
            <a:ext cx="13971689" cy="784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62"/>
              </a:lnSpc>
            </a:pPr>
            <a:r>
              <a:rPr lang="en-US" sz="4875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Improvement 2: Pretrained Encoder (ResNet-34)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2106063"/>
            <a:ext cx="3173311" cy="387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37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Architecture Changes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2646464"/>
            <a:ext cx="7003704" cy="1286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Replaced VGG-style encoder with pretrained ResNet-34 from ImageNet, keeping ASPP and decoder identical for direct comparison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610600" y="2106063"/>
            <a:ext cx="3101130" cy="387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37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Input Adaptation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610600" y="2646464"/>
            <a:ext cx="8694534" cy="889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First conv layer modified from 3→6 channels by averaging pretrained weights across input dimension and tiling to preserve spatial filters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92238" y="4434783"/>
            <a:ext cx="1240336" cy="1488434"/>
            <a:chOff x="0" y="0"/>
            <a:chExt cx="1653781" cy="1984578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1653794" cy="1984629"/>
            </a:xfrm>
            <a:custGeom>
              <a:avLst/>
              <a:gdLst/>
              <a:ahLst/>
              <a:cxnLst/>
              <a:rect r="r" b="b" t="t" l="l"/>
              <a:pathLst>
                <a:path h="1984629" w="1653794">
                  <a:moveTo>
                    <a:pt x="0" y="0"/>
                  </a:moveTo>
                  <a:lnTo>
                    <a:pt x="1653794" y="0"/>
                  </a:lnTo>
                  <a:lnTo>
                    <a:pt x="1653794" y="1984629"/>
                  </a:lnTo>
                  <a:lnTo>
                    <a:pt x="0" y="19846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2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2480520" y="4682728"/>
            <a:ext cx="3101130" cy="387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37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Transfer Learning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480520" y="5124002"/>
            <a:ext cx="14815242" cy="492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ResNet-34 pretrained on 1M+ images provides strong initialization for edge and texture detection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92238" y="5923207"/>
            <a:ext cx="1240336" cy="1488434"/>
            <a:chOff x="0" y="0"/>
            <a:chExt cx="1653781" cy="1984578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1653794" cy="1984629"/>
            </a:xfrm>
            <a:custGeom>
              <a:avLst/>
              <a:gdLst/>
              <a:ahLst/>
              <a:cxnLst/>
              <a:rect r="r" b="b" t="t" l="l"/>
              <a:pathLst>
                <a:path h="1984629" w="1653794">
                  <a:moveTo>
                    <a:pt x="0" y="0"/>
                  </a:moveTo>
                  <a:lnTo>
                    <a:pt x="1653794" y="0"/>
                  </a:lnTo>
                  <a:lnTo>
                    <a:pt x="1653794" y="1984629"/>
                  </a:lnTo>
                  <a:lnTo>
                    <a:pt x="0" y="19846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2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2480520" y="6171162"/>
            <a:ext cx="3101130" cy="387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37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Feature Reuse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480520" y="6612436"/>
            <a:ext cx="14815242" cy="492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Lower layers detect generic patterns (edges, textures) that transfer well to satellite imagery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92238" y="7411641"/>
            <a:ext cx="1240336" cy="1488434"/>
            <a:chOff x="0" y="0"/>
            <a:chExt cx="1653781" cy="1984578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1653794" cy="1984629"/>
            </a:xfrm>
            <a:custGeom>
              <a:avLst/>
              <a:gdLst/>
              <a:ahLst/>
              <a:cxnLst/>
              <a:rect r="r" b="b" t="t" l="l"/>
              <a:pathLst>
                <a:path h="1984629" w="1653794">
                  <a:moveTo>
                    <a:pt x="0" y="0"/>
                  </a:moveTo>
                  <a:lnTo>
                    <a:pt x="1653794" y="0"/>
                  </a:lnTo>
                  <a:lnTo>
                    <a:pt x="1653794" y="1984629"/>
                  </a:lnTo>
                  <a:lnTo>
                    <a:pt x="0" y="19846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2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2480520" y="7659586"/>
            <a:ext cx="3101130" cy="387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37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Faster Convergence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480520" y="8100860"/>
            <a:ext cx="14815242" cy="492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Reduced epochs needed to learn meaningful features compared to training from scratch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92238" y="9083878"/>
            <a:ext cx="16303523" cy="492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 b="true">
                <a:solidFill>
                  <a:srgbClr val="D6E5EF"/>
                </a:solidFill>
                <a:latin typeface="Roboto Bold"/>
                <a:ea typeface="Roboto Bold"/>
                <a:cs typeface="Roboto Bold"/>
                <a:sym typeface="Roboto Bold"/>
              </a:rPr>
              <a:t>Result:</a:t>
            </a:r>
            <a:r>
              <a:rPr lang="en-US" sz="1937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 Higher parameter count (11.2M vs 1.8M) justified by improved feature representation and faster training convergence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71B2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0273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980627"/>
            <a:ext cx="10015090" cy="784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62"/>
              </a:lnSpc>
            </a:pPr>
            <a:r>
              <a:rPr lang="en-US" sz="4875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Improvement 3: Siamese U-Net V2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240336" y="2633367"/>
            <a:ext cx="247945" cy="1116216"/>
            <a:chOff x="0" y="0"/>
            <a:chExt cx="330594" cy="148828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30581" cy="1488313"/>
            </a:xfrm>
            <a:custGeom>
              <a:avLst/>
              <a:gdLst/>
              <a:ahLst/>
              <a:cxnLst/>
              <a:rect r="r" b="b" t="t" l="l"/>
              <a:pathLst>
                <a:path h="1488313" w="330581">
                  <a:moveTo>
                    <a:pt x="0" y="49657"/>
                  </a:moveTo>
                  <a:cubicBezTo>
                    <a:pt x="0" y="22225"/>
                    <a:pt x="22225" y="0"/>
                    <a:pt x="49657" y="0"/>
                  </a:cubicBezTo>
                  <a:lnTo>
                    <a:pt x="280924" y="0"/>
                  </a:lnTo>
                  <a:cubicBezTo>
                    <a:pt x="308356" y="0"/>
                    <a:pt x="330581" y="22225"/>
                    <a:pt x="330581" y="49657"/>
                  </a:cubicBezTo>
                  <a:lnTo>
                    <a:pt x="330581" y="1438656"/>
                  </a:lnTo>
                  <a:cubicBezTo>
                    <a:pt x="330581" y="1466088"/>
                    <a:pt x="308356" y="1488313"/>
                    <a:pt x="280924" y="1488313"/>
                  </a:cubicBezTo>
                  <a:lnTo>
                    <a:pt x="49657" y="1488313"/>
                  </a:lnTo>
                  <a:cubicBezTo>
                    <a:pt x="22225" y="1488313"/>
                    <a:pt x="0" y="1466088"/>
                    <a:pt x="0" y="1438656"/>
                  </a:cubicBezTo>
                  <a:close/>
                </a:path>
              </a:pathLst>
            </a:custGeom>
            <a:solidFill>
              <a:srgbClr val="3F4652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992238" y="2470547"/>
            <a:ext cx="744141" cy="744141"/>
            <a:chOff x="0" y="0"/>
            <a:chExt cx="992188" cy="99218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92251" cy="992251"/>
            </a:xfrm>
            <a:custGeom>
              <a:avLst/>
              <a:gdLst/>
              <a:ahLst/>
              <a:cxnLst/>
              <a:rect r="r" b="b" t="t" l="l"/>
              <a:pathLst>
                <a:path h="992251" w="992251">
                  <a:moveTo>
                    <a:pt x="0" y="496062"/>
                  </a:moveTo>
                  <a:cubicBezTo>
                    <a:pt x="0" y="222123"/>
                    <a:pt x="222123" y="0"/>
                    <a:pt x="496062" y="0"/>
                  </a:cubicBezTo>
                  <a:cubicBezTo>
                    <a:pt x="770001" y="0"/>
                    <a:pt x="992251" y="222123"/>
                    <a:pt x="992251" y="496062"/>
                  </a:cubicBezTo>
                  <a:cubicBezTo>
                    <a:pt x="992251" y="770001"/>
                    <a:pt x="770128" y="992251"/>
                    <a:pt x="496062" y="992251"/>
                  </a:cubicBezTo>
                  <a:cubicBezTo>
                    <a:pt x="221996" y="992251"/>
                    <a:pt x="0" y="770128"/>
                    <a:pt x="0" y="496062"/>
                  </a:cubicBezTo>
                  <a:close/>
                </a:path>
              </a:pathLst>
            </a:custGeom>
            <a:solidFill>
              <a:srgbClr val="3F4652"/>
            </a:solidFill>
          </p:spPr>
        </p:sp>
      </p:grpSp>
      <p:sp>
        <p:nvSpPr>
          <p:cNvPr name="Freeform 11" id="11" descr="preencoded.png"/>
          <p:cNvSpPr/>
          <p:nvPr/>
        </p:nvSpPr>
        <p:spPr>
          <a:xfrm flipH="false" flipV="false" rot="0">
            <a:off x="1178271" y="2656580"/>
            <a:ext cx="372066" cy="372066"/>
          </a:xfrm>
          <a:custGeom>
            <a:avLst/>
            <a:gdLst/>
            <a:ahLst/>
            <a:cxnLst/>
            <a:rect r="r" b="b" t="t" l="l"/>
            <a:pathLst>
              <a:path h="372066" w="372066">
                <a:moveTo>
                  <a:pt x="0" y="0"/>
                </a:moveTo>
                <a:lnTo>
                  <a:pt x="372066" y="0"/>
                </a:lnTo>
                <a:lnTo>
                  <a:pt x="372066" y="372065"/>
                </a:lnTo>
                <a:lnTo>
                  <a:pt x="0" y="3720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984324" y="2509247"/>
            <a:ext cx="4139956" cy="387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37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Temporal Bottleneck Fusion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84324" y="2950521"/>
            <a:ext cx="15311438" cy="492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Concatenate t1_e4 and t2_e4 (1024ch) before ASPP instead of processing single branch, making bottleneck temporally aware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612402" y="4369746"/>
            <a:ext cx="247945" cy="1116216"/>
            <a:chOff x="0" y="0"/>
            <a:chExt cx="330594" cy="148828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30581" cy="1488313"/>
            </a:xfrm>
            <a:custGeom>
              <a:avLst/>
              <a:gdLst/>
              <a:ahLst/>
              <a:cxnLst/>
              <a:rect r="r" b="b" t="t" l="l"/>
              <a:pathLst>
                <a:path h="1488313" w="330581">
                  <a:moveTo>
                    <a:pt x="0" y="49657"/>
                  </a:moveTo>
                  <a:cubicBezTo>
                    <a:pt x="0" y="22225"/>
                    <a:pt x="22225" y="0"/>
                    <a:pt x="49657" y="0"/>
                  </a:cubicBezTo>
                  <a:lnTo>
                    <a:pt x="280924" y="0"/>
                  </a:lnTo>
                  <a:cubicBezTo>
                    <a:pt x="308356" y="0"/>
                    <a:pt x="330581" y="22225"/>
                    <a:pt x="330581" y="49657"/>
                  </a:cubicBezTo>
                  <a:lnTo>
                    <a:pt x="330581" y="1438656"/>
                  </a:lnTo>
                  <a:cubicBezTo>
                    <a:pt x="330581" y="1466088"/>
                    <a:pt x="308356" y="1488313"/>
                    <a:pt x="280924" y="1488313"/>
                  </a:cubicBezTo>
                  <a:lnTo>
                    <a:pt x="49657" y="1488313"/>
                  </a:lnTo>
                  <a:cubicBezTo>
                    <a:pt x="22225" y="1488313"/>
                    <a:pt x="0" y="1466088"/>
                    <a:pt x="0" y="1438656"/>
                  </a:cubicBezTo>
                  <a:close/>
                </a:path>
              </a:pathLst>
            </a:custGeom>
            <a:solidFill>
              <a:srgbClr val="3F4652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364304" y="4206926"/>
            <a:ext cx="744141" cy="744141"/>
            <a:chOff x="0" y="0"/>
            <a:chExt cx="992188" cy="99218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92251" cy="992251"/>
            </a:xfrm>
            <a:custGeom>
              <a:avLst/>
              <a:gdLst/>
              <a:ahLst/>
              <a:cxnLst/>
              <a:rect r="r" b="b" t="t" l="l"/>
              <a:pathLst>
                <a:path h="992251" w="992251">
                  <a:moveTo>
                    <a:pt x="0" y="496062"/>
                  </a:moveTo>
                  <a:cubicBezTo>
                    <a:pt x="0" y="222123"/>
                    <a:pt x="222123" y="0"/>
                    <a:pt x="496062" y="0"/>
                  </a:cubicBezTo>
                  <a:cubicBezTo>
                    <a:pt x="770001" y="0"/>
                    <a:pt x="992251" y="222123"/>
                    <a:pt x="992251" y="496062"/>
                  </a:cubicBezTo>
                  <a:cubicBezTo>
                    <a:pt x="992251" y="770001"/>
                    <a:pt x="770128" y="992251"/>
                    <a:pt x="496062" y="992251"/>
                  </a:cubicBezTo>
                  <a:cubicBezTo>
                    <a:pt x="221996" y="992251"/>
                    <a:pt x="0" y="770128"/>
                    <a:pt x="0" y="496062"/>
                  </a:cubicBezTo>
                  <a:close/>
                </a:path>
              </a:pathLst>
            </a:custGeom>
            <a:solidFill>
              <a:srgbClr val="3F4652"/>
            </a:solidFill>
          </p:spPr>
        </p:sp>
      </p:grpSp>
      <p:sp>
        <p:nvSpPr>
          <p:cNvPr name="Freeform 18" id="18" descr="preencoded.png"/>
          <p:cNvSpPr/>
          <p:nvPr/>
        </p:nvSpPr>
        <p:spPr>
          <a:xfrm flipH="false" flipV="false" rot="0">
            <a:off x="1550346" y="4392959"/>
            <a:ext cx="372066" cy="372066"/>
          </a:xfrm>
          <a:custGeom>
            <a:avLst/>
            <a:gdLst/>
            <a:ahLst/>
            <a:cxnLst/>
            <a:rect r="r" b="b" t="t" l="l"/>
            <a:pathLst>
              <a:path h="372066" w="372066">
                <a:moveTo>
                  <a:pt x="0" y="0"/>
                </a:moveTo>
                <a:lnTo>
                  <a:pt x="372066" y="0"/>
                </a:lnTo>
                <a:lnTo>
                  <a:pt x="372066" y="372065"/>
                </a:lnTo>
                <a:lnTo>
                  <a:pt x="0" y="37206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30001" t="0" r="-30001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2356399" y="4245616"/>
            <a:ext cx="3101130" cy="387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37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Attention Gates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356399" y="4686891"/>
            <a:ext cx="14939372" cy="492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Soft spatial masks suppress background activations and highlight change regions using upsampled decoder features as gating signals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984477" y="6106116"/>
            <a:ext cx="247945" cy="1116216"/>
            <a:chOff x="0" y="0"/>
            <a:chExt cx="330594" cy="148828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30581" cy="1488313"/>
            </a:xfrm>
            <a:custGeom>
              <a:avLst/>
              <a:gdLst/>
              <a:ahLst/>
              <a:cxnLst/>
              <a:rect r="r" b="b" t="t" l="l"/>
              <a:pathLst>
                <a:path h="1488313" w="330581">
                  <a:moveTo>
                    <a:pt x="0" y="49657"/>
                  </a:moveTo>
                  <a:cubicBezTo>
                    <a:pt x="0" y="22225"/>
                    <a:pt x="22225" y="0"/>
                    <a:pt x="49657" y="0"/>
                  </a:cubicBezTo>
                  <a:lnTo>
                    <a:pt x="280924" y="0"/>
                  </a:lnTo>
                  <a:cubicBezTo>
                    <a:pt x="308356" y="0"/>
                    <a:pt x="330581" y="22225"/>
                    <a:pt x="330581" y="49657"/>
                  </a:cubicBezTo>
                  <a:lnTo>
                    <a:pt x="330581" y="1438656"/>
                  </a:lnTo>
                  <a:cubicBezTo>
                    <a:pt x="330581" y="1466088"/>
                    <a:pt x="308356" y="1488313"/>
                    <a:pt x="280924" y="1488313"/>
                  </a:cubicBezTo>
                  <a:lnTo>
                    <a:pt x="49657" y="1488313"/>
                  </a:lnTo>
                  <a:cubicBezTo>
                    <a:pt x="22225" y="1488313"/>
                    <a:pt x="0" y="1466088"/>
                    <a:pt x="0" y="1438656"/>
                  </a:cubicBezTo>
                  <a:close/>
                </a:path>
              </a:pathLst>
            </a:custGeom>
            <a:solidFill>
              <a:srgbClr val="3F4652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736379" y="5943305"/>
            <a:ext cx="744141" cy="744141"/>
            <a:chOff x="0" y="0"/>
            <a:chExt cx="992188" cy="99218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92251" cy="992251"/>
            </a:xfrm>
            <a:custGeom>
              <a:avLst/>
              <a:gdLst/>
              <a:ahLst/>
              <a:cxnLst/>
              <a:rect r="r" b="b" t="t" l="l"/>
              <a:pathLst>
                <a:path h="992251" w="992251">
                  <a:moveTo>
                    <a:pt x="0" y="496062"/>
                  </a:moveTo>
                  <a:cubicBezTo>
                    <a:pt x="0" y="222123"/>
                    <a:pt x="222123" y="0"/>
                    <a:pt x="496062" y="0"/>
                  </a:cubicBezTo>
                  <a:cubicBezTo>
                    <a:pt x="770001" y="0"/>
                    <a:pt x="992251" y="222123"/>
                    <a:pt x="992251" y="496062"/>
                  </a:cubicBezTo>
                  <a:cubicBezTo>
                    <a:pt x="992251" y="770001"/>
                    <a:pt x="770128" y="992251"/>
                    <a:pt x="496062" y="992251"/>
                  </a:cubicBezTo>
                  <a:cubicBezTo>
                    <a:pt x="221996" y="992251"/>
                    <a:pt x="0" y="770128"/>
                    <a:pt x="0" y="496062"/>
                  </a:cubicBezTo>
                  <a:close/>
                </a:path>
              </a:pathLst>
            </a:custGeom>
            <a:solidFill>
              <a:srgbClr val="3F4652"/>
            </a:solidFill>
          </p:spPr>
        </p:sp>
      </p:grpSp>
      <p:sp>
        <p:nvSpPr>
          <p:cNvPr name="Freeform 25" id="25" descr="preencoded.png"/>
          <p:cNvSpPr/>
          <p:nvPr/>
        </p:nvSpPr>
        <p:spPr>
          <a:xfrm flipH="false" flipV="false" rot="0">
            <a:off x="1922412" y="6129338"/>
            <a:ext cx="372066" cy="372066"/>
          </a:xfrm>
          <a:custGeom>
            <a:avLst/>
            <a:gdLst/>
            <a:ahLst/>
            <a:cxnLst/>
            <a:rect r="r" b="b" t="t" l="l"/>
            <a:pathLst>
              <a:path h="372066" w="372066">
                <a:moveTo>
                  <a:pt x="0" y="0"/>
                </a:moveTo>
                <a:lnTo>
                  <a:pt x="372065" y="0"/>
                </a:lnTo>
                <a:lnTo>
                  <a:pt x="372065" y="372065"/>
                </a:lnTo>
                <a:lnTo>
                  <a:pt x="0" y="37206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19998" t="0" r="-20001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2728465" y="5981995"/>
            <a:ext cx="3354286" cy="387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37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Change Feature Fusion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728465" y="6423269"/>
            <a:ext cx="14567297" cy="492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Explicitly compute [t1, t2, |t1-t2|, t1×t2] at each skip level, providing decoder direct change magnitude and correlation signals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2356695" y="7842494"/>
            <a:ext cx="247945" cy="1454048"/>
            <a:chOff x="0" y="0"/>
            <a:chExt cx="330594" cy="193873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30581" cy="1938782"/>
            </a:xfrm>
            <a:custGeom>
              <a:avLst/>
              <a:gdLst/>
              <a:ahLst/>
              <a:cxnLst/>
              <a:rect r="r" b="b" t="t" l="l"/>
              <a:pathLst>
                <a:path h="1938782" w="330581">
                  <a:moveTo>
                    <a:pt x="0" y="49657"/>
                  </a:moveTo>
                  <a:cubicBezTo>
                    <a:pt x="0" y="22225"/>
                    <a:pt x="22225" y="0"/>
                    <a:pt x="49657" y="0"/>
                  </a:cubicBezTo>
                  <a:lnTo>
                    <a:pt x="280924" y="0"/>
                  </a:lnTo>
                  <a:cubicBezTo>
                    <a:pt x="308356" y="0"/>
                    <a:pt x="330581" y="22225"/>
                    <a:pt x="330581" y="49657"/>
                  </a:cubicBezTo>
                  <a:lnTo>
                    <a:pt x="330581" y="1889125"/>
                  </a:lnTo>
                  <a:cubicBezTo>
                    <a:pt x="330581" y="1916557"/>
                    <a:pt x="308356" y="1938782"/>
                    <a:pt x="280924" y="1938782"/>
                  </a:cubicBezTo>
                  <a:lnTo>
                    <a:pt x="49657" y="1938782"/>
                  </a:lnTo>
                  <a:cubicBezTo>
                    <a:pt x="22225" y="1938782"/>
                    <a:pt x="0" y="1916557"/>
                    <a:pt x="0" y="1889125"/>
                  </a:cubicBezTo>
                  <a:close/>
                </a:path>
              </a:pathLst>
            </a:custGeom>
            <a:solidFill>
              <a:srgbClr val="3F4652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2108597" y="7679684"/>
            <a:ext cx="744141" cy="744141"/>
            <a:chOff x="0" y="0"/>
            <a:chExt cx="992188" cy="99218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92251" cy="992251"/>
            </a:xfrm>
            <a:custGeom>
              <a:avLst/>
              <a:gdLst/>
              <a:ahLst/>
              <a:cxnLst/>
              <a:rect r="r" b="b" t="t" l="l"/>
              <a:pathLst>
                <a:path h="992251" w="992251">
                  <a:moveTo>
                    <a:pt x="0" y="496062"/>
                  </a:moveTo>
                  <a:cubicBezTo>
                    <a:pt x="0" y="222123"/>
                    <a:pt x="222123" y="0"/>
                    <a:pt x="496062" y="0"/>
                  </a:cubicBezTo>
                  <a:cubicBezTo>
                    <a:pt x="770001" y="0"/>
                    <a:pt x="992251" y="222123"/>
                    <a:pt x="992251" y="496062"/>
                  </a:cubicBezTo>
                  <a:cubicBezTo>
                    <a:pt x="992251" y="770001"/>
                    <a:pt x="770128" y="992251"/>
                    <a:pt x="496062" y="992251"/>
                  </a:cubicBezTo>
                  <a:cubicBezTo>
                    <a:pt x="221996" y="992251"/>
                    <a:pt x="0" y="770128"/>
                    <a:pt x="0" y="496062"/>
                  </a:cubicBezTo>
                  <a:close/>
                </a:path>
              </a:pathLst>
            </a:custGeom>
            <a:solidFill>
              <a:srgbClr val="3F4652"/>
            </a:solidFill>
          </p:spPr>
        </p:sp>
      </p:grpSp>
      <p:sp>
        <p:nvSpPr>
          <p:cNvPr name="Freeform 32" id="32" descr="preencoded.png"/>
          <p:cNvSpPr/>
          <p:nvPr/>
        </p:nvSpPr>
        <p:spPr>
          <a:xfrm flipH="false" flipV="false" rot="0">
            <a:off x="2294630" y="7865716"/>
            <a:ext cx="372066" cy="372066"/>
          </a:xfrm>
          <a:custGeom>
            <a:avLst/>
            <a:gdLst/>
            <a:ahLst/>
            <a:cxnLst/>
            <a:rect r="r" b="b" t="t" l="l"/>
            <a:pathLst>
              <a:path h="372066" w="372066">
                <a:moveTo>
                  <a:pt x="0" y="0"/>
                </a:moveTo>
                <a:lnTo>
                  <a:pt x="372065" y="0"/>
                </a:lnTo>
                <a:lnTo>
                  <a:pt x="372065" y="372066"/>
                </a:lnTo>
                <a:lnTo>
                  <a:pt x="0" y="37206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31250" r="0" b="-31252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3100683" y="7718374"/>
            <a:ext cx="3101130" cy="387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37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Deep Supervision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100683" y="8159648"/>
            <a:ext cx="14195079" cy="889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Auxiliary heads at up4/up3/up2 levels (0.4/0.2/0.1 weights) inject gradient signal into early decoder layers, preventing training plateau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71B2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0273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91803" y="818407"/>
            <a:ext cx="6074416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sz="4000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Architecture Comparison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77516" y="1807073"/>
            <a:ext cx="16132969" cy="1807216"/>
            <a:chOff x="0" y="0"/>
            <a:chExt cx="21510625" cy="240962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9050" y="19050"/>
              <a:ext cx="21472525" cy="2371598"/>
            </a:xfrm>
            <a:custGeom>
              <a:avLst/>
              <a:gdLst/>
              <a:ahLst/>
              <a:cxnLst/>
              <a:rect r="r" b="b" t="t" l="l"/>
              <a:pathLst>
                <a:path h="2371598" w="21472525">
                  <a:moveTo>
                    <a:pt x="0" y="40894"/>
                  </a:moveTo>
                  <a:cubicBezTo>
                    <a:pt x="0" y="18288"/>
                    <a:pt x="18542" y="0"/>
                    <a:pt x="41402" y="0"/>
                  </a:cubicBezTo>
                  <a:lnTo>
                    <a:pt x="21431123" y="0"/>
                  </a:lnTo>
                  <a:cubicBezTo>
                    <a:pt x="21453983" y="0"/>
                    <a:pt x="21472525" y="18288"/>
                    <a:pt x="21472525" y="40894"/>
                  </a:cubicBezTo>
                  <a:lnTo>
                    <a:pt x="21472525" y="2330704"/>
                  </a:lnTo>
                  <a:cubicBezTo>
                    <a:pt x="21472525" y="2353310"/>
                    <a:pt x="21453983" y="2371598"/>
                    <a:pt x="21431123" y="2371598"/>
                  </a:cubicBezTo>
                  <a:lnTo>
                    <a:pt x="41402" y="2371598"/>
                  </a:lnTo>
                  <a:cubicBezTo>
                    <a:pt x="18542" y="2371598"/>
                    <a:pt x="0" y="2353310"/>
                    <a:pt x="0" y="2330704"/>
                  </a:cubicBezTo>
                  <a:close/>
                </a:path>
              </a:pathLst>
            </a:custGeom>
            <a:solidFill>
              <a:srgbClr val="202733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510625" cy="2409698"/>
            </a:xfrm>
            <a:custGeom>
              <a:avLst/>
              <a:gdLst/>
              <a:ahLst/>
              <a:cxnLst/>
              <a:rect r="r" b="b" t="t" l="l"/>
              <a:pathLst>
                <a:path h="2409698" w="21510625">
                  <a:moveTo>
                    <a:pt x="0" y="59944"/>
                  </a:moveTo>
                  <a:cubicBezTo>
                    <a:pt x="0" y="26543"/>
                    <a:pt x="27305" y="0"/>
                    <a:pt x="60452" y="0"/>
                  </a:cubicBezTo>
                  <a:lnTo>
                    <a:pt x="21450173" y="0"/>
                  </a:lnTo>
                  <a:lnTo>
                    <a:pt x="21450173" y="19050"/>
                  </a:lnTo>
                  <a:lnTo>
                    <a:pt x="21450173" y="0"/>
                  </a:lnTo>
                  <a:cubicBezTo>
                    <a:pt x="21483320" y="0"/>
                    <a:pt x="21510625" y="26543"/>
                    <a:pt x="21510625" y="59944"/>
                  </a:cubicBezTo>
                  <a:lnTo>
                    <a:pt x="21491575" y="59944"/>
                  </a:lnTo>
                  <a:lnTo>
                    <a:pt x="21510625" y="59944"/>
                  </a:lnTo>
                  <a:lnTo>
                    <a:pt x="21510625" y="2349754"/>
                  </a:lnTo>
                  <a:lnTo>
                    <a:pt x="21491575" y="2349754"/>
                  </a:lnTo>
                  <a:lnTo>
                    <a:pt x="21510625" y="2349754"/>
                  </a:lnTo>
                  <a:cubicBezTo>
                    <a:pt x="21510625" y="2383028"/>
                    <a:pt x="21483320" y="2409698"/>
                    <a:pt x="21450173" y="2409698"/>
                  </a:cubicBezTo>
                  <a:lnTo>
                    <a:pt x="21450173" y="2390648"/>
                  </a:lnTo>
                  <a:lnTo>
                    <a:pt x="21450173" y="2409698"/>
                  </a:lnTo>
                  <a:lnTo>
                    <a:pt x="60452" y="2409698"/>
                  </a:lnTo>
                  <a:lnTo>
                    <a:pt x="60452" y="2390648"/>
                  </a:lnTo>
                  <a:lnTo>
                    <a:pt x="60452" y="2409698"/>
                  </a:lnTo>
                  <a:cubicBezTo>
                    <a:pt x="27305" y="2409698"/>
                    <a:pt x="0" y="2383155"/>
                    <a:pt x="0" y="2349754"/>
                  </a:cubicBezTo>
                  <a:lnTo>
                    <a:pt x="0" y="59944"/>
                  </a:lnTo>
                  <a:lnTo>
                    <a:pt x="19050" y="59944"/>
                  </a:lnTo>
                  <a:lnTo>
                    <a:pt x="0" y="59944"/>
                  </a:lnTo>
                  <a:moveTo>
                    <a:pt x="38100" y="59944"/>
                  </a:moveTo>
                  <a:lnTo>
                    <a:pt x="38100" y="2349754"/>
                  </a:lnTo>
                  <a:lnTo>
                    <a:pt x="19050" y="2349754"/>
                  </a:lnTo>
                  <a:lnTo>
                    <a:pt x="38100" y="2349754"/>
                  </a:lnTo>
                  <a:cubicBezTo>
                    <a:pt x="38100" y="2361565"/>
                    <a:pt x="47879" y="2371598"/>
                    <a:pt x="60452" y="2371598"/>
                  </a:cubicBezTo>
                  <a:lnTo>
                    <a:pt x="21450173" y="2371598"/>
                  </a:lnTo>
                  <a:cubicBezTo>
                    <a:pt x="21462746" y="2371598"/>
                    <a:pt x="21472525" y="2361565"/>
                    <a:pt x="21472525" y="2349754"/>
                  </a:cubicBezTo>
                  <a:lnTo>
                    <a:pt x="21472525" y="59944"/>
                  </a:lnTo>
                  <a:cubicBezTo>
                    <a:pt x="21472525" y="48133"/>
                    <a:pt x="21462746" y="38100"/>
                    <a:pt x="21450173" y="38100"/>
                  </a:cubicBezTo>
                  <a:lnTo>
                    <a:pt x="60452" y="38100"/>
                  </a:lnTo>
                  <a:lnTo>
                    <a:pt x="60452" y="19050"/>
                  </a:lnTo>
                  <a:lnTo>
                    <a:pt x="60452" y="38100"/>
                  </a:lnTo>
                  <a:cubicBezTo>
                    <a:pt x="47879" y="38100"/>
                    <a:pt x="38100" y="48133"/>
                    <a:pt x="38100" y="59944"/>
                  </a:cubicBezTo>
                  <a:close/>
                </a:path>
              </a:pathLst>
            </a:custGeom>
            <a:solidFill>
              <a:srgbClr val="585F6B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20378" y="1849936"/>
            <a:ext cx="816769" cy="1721491"/>
            <a:chOff x="0" y="0"/>
            <a:chExt cx="1089025" cy="229532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89025" cy="2295271"/>
            </a:xfrm>
            <a:custGeom>
              <a:avLst/>
              <a:gdLst/>
              <a:ahLst/>
              <a:cxnLst/>
              <a:rect r="r" b="b" t="t" l="l"/>
              <a:pathLst>
                <a:path h="2295271" w="1089025">
                  <a:moveTo>
                    <a:pt x="0" y="0"/>
                  </a:moveTo>
                  <a:lnTo>
                    <a:pt x="1089025" y="0"/>
                  </a:lnTo>
                  <a:lnTo>
                    <a:pt x="1089025" y="2295271"/>
                  </a:lnTo>
                  <a:lnTo>
                    <a:pt x="0" y="2295271"/>
                  </a:lnTo>
                  <a:close/>
                </a:path>
              </a:pathLst>
            </a:custGeom>
            <a:solidFill>
              <a:srgbClr val="3F4652"/>
            </a:solidFill>
          </p:spPr>
        </p:sp>
      </p:grpSp>
      <p:sp>
        <p:nvSpPr>
          <p:cNvPr name="Freeform 12" id="12" descr="preencoded.png"/>
          <p:cNvSpPr/>
          <p:nvPr/>
        </p:nvSpPr>
        <p:spPr>
          <a:xfrm flipH="false" flipV="false" rot="0">
            <a:off x="1375620" y="2557462"/>
            <a:ext cx="306286" cy="306286"/>
          </a:xfrm>
          <a:custGeom>
            <a:avLst/>
            <a:gdLst/>
            <a:ahLst/>
            <a:cxnLst/>
            <a:rect r="r" b="b" t="t" l="l"/>
            <a:pathLst>
              <a:path h="306286" w="306286">
                <a:moveTo>
                  <a:pt x="0" y="0"/>
                </a:moveTo>
                <a:lnTo>
                  <a:pt x="306285" y="0"/>
                </a:lnTo>
                <a:lnTo>
                  <a:pt x="306285" y="306286"/>
                </a:lnTo>
                <a:lnTo>
                  <a:pt x="0" y="3062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514" r="0" b="-1517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105177" y="2035073"/>
            <a:ext cx="2552700" cy="337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Encoder Design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105177" y="2416673"/>
            <a:ext cx="14858257" cy="950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562" b="true">
                <a:solidFill>
                  <a:srgbClr val="D6E5EF"/>
                </a:solidFill>
                <a:latin typeface="Roboto Bold"/>
                <a:ea typeface="Roboto Bold"/>
                <a:cs typeface="Roboto Bold"/>
                <a:sym typeface="Roboto Bold"/>
              </a:rPr>
              <a:t>Baseline:</a:t>
            </a:r>
            <a:r>
              <a:rPr lang="en-US" sz="1562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 Custom VGG-style blocks trained from scratch</a:t>
            </a:r>
          </a:p>
          <a:p>
            <a:pPr algn="l">
              <a:lnSpc>
                <a:spcPts val="2312"/>
              </a:lnSpc>
            </a:pPr>
            <a:r>
              <a:rPr lang="en-US" sz="1562" b="true">
                <a:solidFill>
                  <a:srgbClr val="D6E5EF"/>
                </a:solidFill>
                <a:latin typeface="Roboto Bold"/>
                <a:ea typeface="Roboto Bold"/>
                <a:cs typeface="Roboto Bold"/>
                <a:sym typeface="Roboto Bold"/>
              </a:rPr>
              <a:t>ResNet:</a:t>
            </a:r>
            <a:r>
              <a:rPr lang="en-US" sz="1562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 Pretrained ResNet-34 with ImageNet weights</a:t>
            </a:r>
          </a:p>
          <a:p>
            <a:pPr algn="l">
              <a:lnSpc>
                <a:spcPts val="2312"/>
              </a:lnSpc>
            </a:pPr>
            <a:r>
              <a:rPr lang="en-US" sz="1562" b="true">
                <a:solidFill>
                  <a:srgbClr val="D6E5EF"/>
                </a:solidFill>
                <a:latin typeface="Roboto Bold"/>
                <a:ea typeface="Roboto Bold"/>
                <a:cs typeface="Roboto Bold"/>
                <a:sym typeface="Roboto Bold"/>
              </a:rPr>
              <a:t>V2:</a:t>
            </a:r>
            <a:r>
              <a:rPr lang="en-US" sz="1562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 Original encoder with attention gates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77516" y="3753745"/>
            <a:ext cx="16132969" cy="1807216"/>
            <a:chOff x="0" y="0"/>
            <a:chExt cx="21510625" cy="240962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19050" y="19050"/>
              <a:ext cx="21472525" cy="2371598"/>
            </a:xfrm>
            <a:custGeom>
              <a:avLst/>
              <a:gdLst/>
              <a:ahLst/>
              <a:cxnLst/>
              <a:rect r="r" b="b" t="t" l="l"/>
              <a:pathLst>
                <a:path h="2371598" w="21472525">
                  <a:moveTo>
                    <a:pt x="0" y="40894"/>
                  </a:moveTo>
                  <a:cubicBezTo>
                    <a:pt x="0" y="18288"/>
                    <a:pt x="18542" y="0"/>
                    <a:pt x="41402" y="0"/>
                  </a:cubicBezTo>
                  <a:lnTo>
                    <a:pt x="21431123" y="0"/>
                  </a:lnTo>
                  <a:cubicBezTo>
                    <a:pt x="21453983" y="0"/>
                    <a:pt x="21472525" y="18288"/>
                    <a:pt x="21472525" y="40894"/>
                  </a:cubicBezTo>
                  <a:lnTo>
                    <a:pt x="21472525" y="2330704"/>
                  </a:lnTo>
                  <a:cubicBezTo>
                    <a:pt x="21472525" y="2353310"/>
                    <a:pt x="21453983" y="2371598"/>
                    <a:pt x="21431123" y="2371598"/>
                  </a:cubicBezTo>
                  <a:lnTo>
                    <a:pt x="41402" y="2371598"/>
                  </a:lnTo>
                  <a:cubicBezTo>
                    <a:pt x="18542" y="2371598"/>
                    <a:pt x="0" y="2353310"/>
                    <a:pt x="0" y="2330704"/>
                  </a:cubicBezTo>
                  <a:close/>
                </a:path>
              </a:pathLst>
            </a:custGeom>
            <a:solidFill>
              <a:srgbClr val="202733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510625" cy="2409698"/>
            </a:xfrm>
            <a:custGeom>
              <a:avLst/>
              <a:gdLst/>
              <a:ahLst/>
              <a:cxnLst/>
              <a:rect r="r" b="b" t="t" l="l"/>
              <a:pathLst>
                <a:path h="2409698" w="21510625">
                  <a:moveTo>
                    <a:pt x="0" y="59944"/>
                  </a:moveTo>
                  <a:cubicBezTo>
                    <a:pt x="0" y="26543"/>
                    <a:pt x="27305" y="0"/>
                    <a:pt x="60452" y="0"/>
                  </a:cubicBezTo>
                  <a:lnTo>
                    <a:pt x="21450173" y="0"/>
                  </a:lnTo>
                  <a:lnTo>
                    <a:pt x="21450173" y="19050"/>
                  </a:lnTo>
                  <a:lnTo>
                    <a:pt x="21450173" y="0"/>
                  </a:lnTo>
                  <a:cubicBezTo>
                    <a:pt x="21483320" y="0"/>
                    <a:pt x="21510625" y="26543"/>
                    <a:pt x="21510625" y="59944"/>
                  </a:cubicBezTo>
                  <a:lnTo>
                    <a:pt x="21491575" y="59944"/>
                  </a:lnTo>
                  <a:lnTo>
                    <a:pt x="21510625" y="59944"/>
                  </a:lnTo>
                  <a:lnTo>
                    <a:pt x="21510625" y="2349754"/>
                  </a:lnTo>
                  <a:lnTo>
                    <a:pt x="21491575" y="2349754"/>
                  </a:lnTo>
                  <a:lnTo>
                    <a:pt x="21510625" y="2349754"/>
                  </a:lnTo>
                  <a:cubicBezTo>
                    <a:pt x="21510625" y="2383028"/>
                    <a:pt x="21483320" y="2409698"/>
                    <a:pt x="21450173" y="2409698"/>
                  </a:cubicBezTo>
                  <a:lnTo>
                    <a:pt x="21450173" y="2390648"/>
                  </a:lnTo>
                  <a:lnTo>
                    <a:pt x="21450173" y="2409698"/>
                  </a:lnTo>
                  <a:lnTo>
                    <a:pt x="60452" y="2409698"/>
                  </a:lnTo>
                  <a:lnTo>
                    <a:pt x="60452" y="2390648"/>
                  </a:lnTo>
                  <a:lnTo>
                    <a:pt x="60452" y="2409698"/>
                  </a:lnTo>
                  <a:cubicBezTo>
                    <a:pt x="27305" y="2409698"/>
                    <a:pt x="0" y="2383155"/>
                    <a:pt x="0" y="2349754"/>
                  </a:cubicBezTo>
                  <a:lnTo>
                    <a:pt x="0" y="59944"/>
                  </a:lnTo>
                  <a:lnTo>
                    <a:pt x="19050" y="59944"/>
                  </a:lnTo>
                  <a:lnTo>
                    <a:pt x="0" y="59944"/>
                  </a:lnTo>
                  <a:moveTo>
                    <a:pt x="38100" y="59944"/>
                  </a:moveTo>
                  <a:lnTo>
                    <a:pt x="38100" y="2349754"/>
                  </a:lnTo>
                  <a:lnTo>
                    <a:pt x="19050" y="2349754"/>
                  </a:lnTo>
                  <a:lnTo>
                    <a:pt x="38100" y="2349754"/>
                  </a:lnTo>
                  <a:cubicBezTo>
                    <a:pt x="38100" y="2361565"/>
                    <a:pt x="47879" y="2371598"/>
                    <a:pt x="60452" y="2371598"/>
                  </a:cubicBezTo>
                  <a:lnTo>
                    <a:pt x="21450173" y="2371598"/>
                  </a:lnTo>
                  <a:cubicBezTo>
                    <a:pt x="21462746" y="2371598"/>
                    <a:pt x="21472525" y="2361565"/>
                    <a:pt x="21472525" y="2349754"/>
                  </a:cubicBezTo>
                  <a:lnTo>
                    <a:pt x="21472525" y="59944"/>
                  </a:lnTo>
                  <a:cubicBezTo>
                    <a:pt x="21472525" y="48133"/>
                    <a:pt x="21462746" y="38100"/>
                    <a:pt x="21450173" y="38100"/>
                  </a:cubicBezTo>
                  <a:lnTo>
                    <a:pt x="60452" y="38100"/>
                  </a:lnTo>
                  <a:lnTo>
                    <a:pt x="60452" y="19050"/>
                  </a:lnTo>
                  <a:lnTo>
                    <a:pt x="60452" y="38100"/>
                  </a:lnTo>
                  <a:cubicBezTo>
                    <a:pt x="47879" y="38100"/>
                    <a:pt x="38100" y="48133"/>
                    <a:pt x="38100" y="59944"/>
                  </a:cubicBezTo>
                  <a:close/>
                </a:path>
              </a:pathLst>
            </a:custGeom>
            <a:solidFill>
              <a:srgbClr val="585F6B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120378" y="3796608"/>
            <a:ext cx="816769" cy="1721491"/>
            <a:chOff x="0" y="0"/>
            <a:chExt cx="1089025" cy="229532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89025" cy="2295271"/>
            </a:xfrm>
            <a:custGeom>
              <a:avLst/>
              <a:gdLst/>
              <a:ahLst/>
              <a:cxnLst/>
              <a:rect r="r" b="b" t="t" l="l"/>
              <a:pathLst>
                <a:path h="2295271" w="1089025">
                  <a:moveTo>
                    <a:pt x="0" y="0"/>
                  </a:moveTo>
                  <a:lnTo>
                    <a:pt x="1089025" y="0"/>
                  </a:lnTo>
                  <a:lnTo>
                    <a:pt x="1089025" y="2295271"/>
                  </a:lnTo>
                  <a:lnTo>
                    <a:pt x="0" y="2295271"/>
                  </a:lnTo>
                  <a:close/>
                </a:path>
              </a:pathLst>
            </a:custGeom>
            <a:solidFill>
              <a:srgbClr val="3F4652"/>
            </a:solidFill>
          </p:spPr>
        </p:sp>
      </p:grpSp>
      <p:sp>
        <p:nvSpPr>
          <p:cNvPr name="Freeform 20" id="20" descr="preencoded.png"/>
          <p:cNvSpPr/>
          <p:nvPr/>
        </p:nvSpPr>
        <p:spPr>
          <a:xfrm flipH="false" flipV="false" rot="0">
            <a:off x="1375620" y="4504134"/>
            <a:ext cx="306286" cy="306286"/>
          </a:xfrm>
          <a:custGeom>
            <a:avLst/>
            <a:gdLst/>
            <a:ahLst/>
            <a:cxnLst/>
            <a:rect r="r" b="b" t="t" l="l"/>
            <a:pathLst>
              <a:path h="306286" w="306286">
                <a:moveTo>
                  <a:pt x="0" y="0"/>
                </a:moveTo>
                <a:lnTo>
                  <a:pt x="306285" y="0"/>
                </a:lnTo>
                <a:lnTo>
                  <a:pt x="306285" y="306286"/>
                </a:lnTo>
                <a:lnTo>
                  <a:pt x="0" y="30628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514" t="0" r="-1517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2105177" y="3981745"/>
            <a:ext cx="2552700" cy="337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Feature Processing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105177" y="4363345"/>
            <a:ext cx="14858257" cy="950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562" b="true">
                <a:solidFill>
                  <a:srgbClr val="D6E5EF"/>
                </a:solidFill>
                <a:latin typeface="Roboto Bold"/>
                <a:ea typeface="Roboto Bold"/>
                <a:cs typeface="Roboto Bold"/>
                <a:sym typeface="Roboto Bold"/>
              </a:rPr>
              <a:t>Baseline:</a:t>
            </a:r>
            <a:r>
              <a:rPr lang="en-US" sz="1562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 Single branch through ASPP</a:t>
            </a:r>
          </a:p>
          <a:p>
            <a:pPr algn="l">
              <a:lnSpc>
                <a:spcPts val="2312"/>
              </a:lnSpc>
            </a:pPr>
            <a:r>
              <a:rPr lang="en-US" sz="1562" b="true">
                <a:solidFill>
                  <a:srgbClr val="D6E5EF"/>
                </a:solidFill>
                <a:latin typeface="Roboto Bold"/>
                <a:ea typeface="Roboto Bold"/>
                <a:cs typeface="Roboto Bold"/>
                <a:sym typeface="Roboto Bold"/>
              </a:rPr>
              <a:t>ResNet:</a:t>
            </a:r>
            <a:r>
              <a:rPr lang="en-US" sz="1562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 Same ASPP with pretrained features</a:t>
            </a:r>
          </a:p>
          <a:p>
            <a:pPr algn="l">
              <a:lnSpc>
                <a:spcPts val="2312"/>
              </a:lnSpc>
            </a:pPr>
            <a:r>
              <a:rPr lang="en-US" sz="1562" b="true">
                <a:solidFill>
                  <a:srgbClr val="D6E5EF"/>
                </a:solidFill>
                <a:latin typeface="Roboto Bold"/>
                <a:ea typeface="Roboto Bold"/>
                <a:cs typeface="Roboto Bold"/>
                <a:sym typeface="Roboto Bold"/>
              </a:rPr>
              <a:t>V2:</a:t>
            </a:r>
            <a:r>
              <a:rPr lang="en-US" sz="1562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 Dual-branch fusion before ASPP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077516" y="5700417"/>
            <a:ext cx="16132969" cy="1807216"/>
            <a:chOff x="0" y="0"/>
            <a:chExt cx="21510625" cy="240962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9050" y="19050"/>
              <a:ext cx="21472525" cy="2371598"/>
            </a:xfrm>
            <a:custGeom>
              <a:avLst/>
              <a:gdLst/>
              <a:ahLst/>
              <a:cxnLst/>
              <a:rect r="r" b="b" t="t" l="l"/>
              <a:pathLst>
                <a:path h="2371598" w="21472525">
                  <a:moveTo>
                    <a:pt x="0" y="40894"/>
                  </a:moveTo>
                  <a:cubicBezTo>
                    <a:pt x="0" y="18288"/>
                    <a:pt x="18542" y="0"/>
                    <a:pt x="41402" y="0"/>
                  </a:cubicBezTo>
                  <a:lnTo>
                    <a:pt x="21431123" y="0"/>
                  </a:lnTo>
                  <a:cubicBezTo>
                    <a:pt x="21453983" y="0"/>
                    <a:pt x="21472525" y="18288"/>
                    <a:pt x="21472525" y="40894"/>
                  </a:cubicBezTo>
                  <a:lnTo>
                    <a:pt x="21472525" y="2330704"/>
                  </a:lnTo>
                  <a:cubicBezTo>
                    <a:pt x="21472525" y="2353310"/>
                    <a:pt x="21453983" y="2371598"/>
                    <a:pt x="21431123" y="2371598"/>
                  </a:cubicBezTo>
                  <a:lnTo>
                    <a:pt x="41402" y="2371598"/>
                  </a:lnTo>
                  <a:cubicBezTo>
                    <a:pt x="18542" y="2371598"/>
                    <a:pt x="0" y="2353310"/>
                    <a:pt x="0" y="2330704"/>
                  </a:cubicBezTo>
                  <a:close/>
                </a:path>
              </a:pathLst>
            </a:custGeom>
            <a:solidFill>
              <a:srgbClr val="202733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510625" cy="2409698"/>
            </a:xfrm>
            <a:custGeom>
              <a:avLst/>
              <a:gdLst/>
              <a:ahLst/>
              <a:cxnLst/>
              <a:rect r="r" b="b" t="t" l="l"/>
              <a:pathLst>
                <a:path h="2409698" w="21510625">
                  <a:moveTo>
                    <a:pt x="0" y="59944"/>
                  </a:moveTo>
                  <a:cubicBezTo>
                    <a:pt x="0" y="26543"/>
                    <a:pt x="27305" y="0"/>
                    <a:pt x="60452" y="0"/>
                  </a:cubicBezTo>
                  <a:lnTo>
                    <a:pt x="21450173" y="0"/>
                  </a:lnTo>
                  <a:lnTo>
                    <a:pt x="21450173" y="19050"/>
                  </a:lnTo>
                  <a:lnTo>
                    <a:pt x="21450173" y="0"/>
                  </a:lnTo>
                  <a:cubicBezTo>
                    <a:pt x="21483320" y="0"/>
                    <a:pt x="21510625" y="26543"/>
                    <a:pt x="21510625" y="59944"/>
                  </a:cubicBezTo>
                  <a:lnTo>
                    <a:pt x="21491575" y="59944"/>
                  </a:lnTo>
                  <a:lnTo>
                    <a:pt x="21510625" y="59944"/>
                  </a:lnTo>
                  <a:lnTo>
                    <a:pt x="21510625" y="2349754"/>
                  </a:lnTo>
                  <a:lnTo>
                    <a:pt x="21491575" y="2349754"/>
                  </a:lnTo>
                  <a:lnTo>
                    <a:pt x="21510625" y="2349754"/>
                  </a:lnTo>
                  <a:cubicBezTo>
                    <a:pt x="21510625" y="2383028"/>
                    <a:pt x="21483320" y="2409698"/>
                    <a:pt x="21450173" y="2409698"/>
                  </a:cubicBezTo>
                  <a:lnTo>
                    <a:pt x="21450173" y="2390648"/>
                  </a:lnTo>
                  <a:lnTo>
                    <a:pt x="21450173" y="2409698"/>
                  </a:lnTo>
                  <a:lnTo>
                    <a:pt x="60452" y="2409698"/>
                  </a:lnTo>
                  <a:lnTo>
                    <a:pt x="60452" y="2390648"/>
                  </a:lnTo>
                  <a:lnTo>
                    <a:pt x="60452" y="2409698"/>
                  </a:lnTo>
                  <a:cubicBezTo>
                    <a:pt x="27305" y="2409698"/>
                    <a:pt x="0" y="2383155"/>
                    <a:pt x="0" y="2349754"/>
                  </a:cubicBezTo>
                  <a:lnTo>
                    <a:pt x="0" y="59944"/>
                  </a:lnTo>
                  <a:lnTo>
                    <a:pt x="19050" y="59944"/>
                  </a:lnTo>
                  <a:lnTo>
                    <a:pt x="0" y="59944"/>
                  </a:lnTo>
                  <a:moveTo>
                    <a:pt x="38100" y="59944"/>
                  </a:moveTo>
                  <a:lnTo>
                    <a:pt x="38100" y="2349754"/>
                  </a:lnTo>
                  <a:lnTo>
                    <a:pt x="19050" y="2349754"/>
                  </a:lnTo>
                  <a:lnTo>
                    <a:pt x="38100" y="2349754"/>
                  </a:lnTo>
                  <a:cubicBezTo>
                    <a:pt x="38100" y="2361565"/>
                    <a:pt x="47879" y="2371598"/>
                    <a:pt x="60452" y="2371598"/>
                  </a:cubicBezTo>
                  <a:lnTo>
                    <a:pt x="21450173" y="2371598"/>
                  </a:lnTo>
                  <a:cubicBezTo>
                    <a:pt x="21462746" y="2371598"/>
                    <a:pt x="21472525" y="2361565"/>
                    <a:pt x="21472525" y="2349754"/>
                  </a:cubicBezTo>
                  <a:lnTo>
                    <a:pt x="21472525" y="59944"/>
                  </a:lnTo>
                  <a:cubicBezTo>
                    <a:pt x="21472525" y="48133"/>
                    <a:pt x="21462746" y="38100"/>
                    <a:pt x="21450173" y="38100"/>
                  </a:cubicBezTo>
                  <a:lnTo>
                    <a:pt x="60452" y="38100"/>
                  </a:lnTo>
                  <a:lnTo>
                    <a:pt x="60452" y="19050"/>
                  </a:lnTo>
                  <a:lnTo>
                    <a:pt x="60452" y="38100"/>
                  </a:lnTo>
                  <a:cubicBezTo>
                    <a:pt x="47879" y="38100"/>
                    <a:pt x="38100" y="48133"/>
                    <a:pt x="38100" y="59944"/>
                  </a:cubicBezTo>
                  <a:close/>
                </a:path>
              </a:pathLst>
            </a:custGeom>
            <a:solidFill>
              <a:srgbClr val="585F6B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20378" y="5743280"/>
            <a:ext cx="816769" cy="1721491"/>
            <a:chOff x="0" y="0"/>
            <a:chExt cx="1089025" cy="229532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89025" cy="2295271"/>
            </a:xfrm>
            <a:custGeom>
              <a:avLst/>
              <a:gdLst/>
              <a:ahLst/>
              <a:cxnLst/>
              <a:rect r="r" b="b" t="t" l="l"/>
              <a:pathLst>
                <a:path h="2295271" w="1089025">
                  <a:moveTo>
                    <a:pt x="0" y="0"/>
                  </a:moveTo>
                  <a:lnTo>
                    <a:pt x="1089025" y="0"/>
                  </a:lnTo>
                  <a:lnTo>
                    <a:pt x="1089025" y="2295271"/>
                  </a:lnTo>
                  <a:lnTo>
                    <a:pt x="0" y="2295271"/>
                  </a:lnTo>
                  <a:close/>
                </a:path>
              </a:pathLst>
            </a:custGeom>
            <a:solidFill>
              <a:srgbClr val="3F4652"/>
            </a:solidFill>
          </p:spPr>
        </p:sp>
      </p:grpSp>
      <p:sp>
        <p:nvSpPr>
          <p:cNvPr name="Freeform 28" id="28" descr="preencoded.png"/>
          <p:cNvSpPr/>
          <p:nvPr/>
        </p:nvSpPr>
        <p:spPr>
          <a:xfrm flipH="false" flipV="false" rot="0">
            <a:off x="1375620" y="6450806"/>
            <a:ext cx="306286" cy="306286"/>
          </a:xfrm>
          <a:custGeom>
            <a:avLst/>
            <a:gdLst/>
            <a:ahLst/>
            <a:cxnLst/>
            <a:rect r="r" b="b" t="t" l="l"/>
            <a:pathLst>
              <a:path h="306286" w="306286">
                <a:moveTo>
                  <a:pt x="0" y="0"/>
                </a:moveTo>
                <a:lnTo>
                  <a:pt x="306285" y="0"/>
                </a:lnTo>
                <a:lnTo>
                  <a:pt x="306285" y="306286"/>
                </a:lnTo>
                <a:lnTo>
                  <a:pt x="0" y="30628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2105177" y="5928417"/>
            <a:ext cx="2552700" cy="337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Change Detection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105177" y="6310017"/>
            <a:ext cx="14858257" cy="950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562" b="true">
                <a:solidFill>
                  <a:srgbClr val="D6E5EF"/>
                </a:solidFill>
                <a:latin typeface="Roboto Bold"/>
                <a:ea typeface="Roboto Bold"/>
                <a:cs typeface="Roboto Bold"/>
                <a:sym typeface="Roboto Bold"/>
              </a:rPr>
              <a:t>Baseline:</a:t>
            </a:r>
            <a:r>
              <a:rPr lang="en-US" sz="1562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 Implicit from concatenated features</a:t>
            </a:r>
          </a:p>
          <a:p>
            <a:pPr algn="l">
              <a:lnSpc>
                <a:spcPts val="2312"/>
              </a:lnSpc>
            </a:pPr>
            <a:r>
              <a:rPr lang="en-US" sz="1562" b="true">
                <a:solidFill>
                  <a:srgbClr val="D6E5EF"/>
                </a:solidFill>
                <a:latin typeface="Roboto Bold"/>
                <a:ea typeface="Roboto Bold"/>
                <a:cs typeface="Roboto Bold"/>
                <a:sym typeface="Roboto Bold"/>
              </a:rPr>
              <a:t>ResNet:</a:t>
            </a:r>
            <a:r>
              <a:rPr lang="en-US" sz="1562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 Same implicit approach</a:t>
            </a:r>
          </a:p>
          <a:p>
            <a:pPr algn="l">
              <a:lnSpc>
                <a:spcPts val="2312"/>
              </a:lnSpc>
            </a:pPr>
            <a:r>
              <a:rPr lang="en-US" sz="1562" b="true">
                <a:solidFill>
                  <a:srgbClr val="D6E5EF"/>
                </a:solidFill>
                <a:latin typeface="Roboto Bold"/>
                <a:ea typeface="Roboto Bold"/>
                <a:cs typeface="Roboto Bold"/>
                <a:sym typeface="Roboto Bold"/>
              </a:rPr>
              <a:t>V2:</a:t>
            </a:r>
            <a:r>
              <a:rPr lang="en-US" sz="1562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 Explicit change features at each level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077516" y="7647089"/>
            <a:ext cx="16132969" cy="1807216"/>
            <a:chOff x="0" y="0"/>
            <a:chExt cx="21510625" cy="240962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9050" y="19050"/>
              <a:ext cx="21472525" cy="2371598"/>
            </a:xfrm>
            <a:custGeom>
              <a:avLst/>
              <a:gdLst/>
              <a:ahLst/>
              <a:cxnLst/>
              <a:rect r="r" b="b" t="t" l="l"/>
              <a:pathLst>
                <a:path h="2371598" w="21472525">
                  <a:moveTo>
                    <a:pt x="0" y="40894"/>
                  </a:moveTo>
                  <a:cubicBezTo>
                    <a:pt x="0" y="18288"/>
                    <a:pt x="18542" y="0"/>
                    <a:pt x="41402" y="0"/>
                  </a:cubicBezTo>
                  <a:lnTo>
                    <a:pt x="21431123" y="0"/>
                  </a:lnTo>
                  <a:cubicBezTo>
                    <a:pt x="21453983" y="0"/>
                    <a:pt x="21472525" y="18288"/>
                    <a:pt x="21472525" y="40894"/>
                  </a:cubicBezTo>
                  <a:lnTo>
                    <a:pt x="21472525" y="2330704"/>
                  </a:lnTo>
                  <a:cubicBezTo>
                    <a:pt x="21472525" y="2353310"/>
                    <a:pt x="21453983" y="2371598"/>
                    <a:pt x="21431123" y="2371598"/>
                  </a:cubicBezTo>
                  <a:lnTo>
                    <a:pt x="41402" y="2371598"/>
                  </a:lnTo>
                  <a:cubicBezTo>
                    <a:pt x="18542" y="2371598"/>
                    <a:pt x="0" y="2353310"/>
                    <a:pt x="0" y="2330704"/>
                  </a:cubicBezTo>
                  <a:close/>
                </a:path>
              </a:pathLst>
            </a:custGeom>
            <a:solidFill>
              <a:srgbClr val="202733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1510625" cy="2409698"/>
            </a:xfrm>
            <a:custGeom>
              <a:avLst/>
              <a:gdLst/>
              <a:ahLst/>
              <a:cxnLst/>
              <a:rect r="r" b="b" t="t" l="l"/>
              <a:pathLst>
                <a:path h="2409698" w="21510625">
                  <a:moveTo>
                    <a:pt x="0" y="59944"/>
                  </a:moveTo>
                  <a:cubicBezTo>
                    <a:pt x="0" y="26543"/>
                    <a:pt x="27305" y="0"/>
                    <a:pt x="60452" y="0"/>
                  </a:cubicBezTo>
                  <a:lnTo>
                    <a:pt x="21450173" y="0"/>
                  </a:lnTo>
                  <a:lnTo>
                    <a:pt x="21450173" y="19050"/>
                  </a:lnTo>
                  <a:lnTo>
                    <a:pt x="21450173" y="0"/>
                  </a:lnTo>
                  <a:cubicBezTo>
                    <a:pt x="21483320" y="0"/>
                    <a:pt x="21510625" y="26543"/>
                    <a:pt x="21510625" y="59944"/>
                  </a:cubicBezTo>
                  <a:lnTo>
                    <a:pt x="21491575" y="59944"/>
                  </a:lnTo>
                  <a:lnTo>
                    <a:pt x="21510625" y="59944"/>
                  </a:lnTo>
                  <a:lnTo>
                    <a:pt x="21510625" y="2349754"/>
                  </a:lnTo>
                  <a:lnTo>
                    <a:pt x="21491575" y="2349754"/>
                  </a:lnTo>
                  <a:lnTo>
                    <a:pt x="21510625" y="2349754"/>
                  </a:lnTo>
                  <a:cubicBezTo>
                    <a:pt x="21510625" y="2383028"/>
                    <a:pt x="21483320" y="2409698"/>
                    <a:pt x="21450173" y="2409698"/>
                  </a:cubicBezTo>
                  <a:lnTo>
                    <a:pt x="21450173" y="2390648"/>
                  </a:lnTo>
                  <a:lnTo>
                    <a:pt x="21450173" y="2409698"/>
                  </a:lnTo>
                  <a:lnTo>
                    <a:pt x="60452" y="2409698"/>
                  </a:lnTo>
                  <a:lnTo>
                    <a:pt x="60452" y="2390648"/>
                  </a:lnTo>
                  <a:lnTo>
                    <a:pt x="60452" y="2409698"/>
                  </a:lnTo>
                  <a:cubicBezTo>
                    <a:pt x="27305" y="2409698"/>
                    <a:pt x="0" y="2383155"/>
                    <a:pt x="0" y="2349754"/>
                  </a:cubicBezTo>
                  <a:lnTo>
                    <a:pt x="0" y="59944"/>
                  </a:lnTo>
                  <a:lnTo>
                    <a:pt x="19050" y="59944"/>
                  </a:lnTo>
                  <a:lnTo>
                    <a:pt x="0" y="59944"/>
                  </a:lnTo>
                  <a:moveTo>
                    <a:pt x="38100" y="59944"/>
                  </a:moveTo>
                  <a:lnTo>
                    <a:pt x="38100" y="2349754"/>
                  </a:lnTo>
                  <a:lnTo>
                    <a:pt x="19050" y="2349754"/>
                  </a:lnTo>
                  <a:lnTo>
                    <a:pt x="38100" y="2349754"/>
                  </a:lnTo>
                  <a:cubicBezTo>
                    <a:pt x="38100" y="2361565"/>
                    <a:pt x="47879" y="2371598"/>
                    <a:pt x="60452" y="2371598"/>
                  </a:cubicBezTo>
                  <a:lnTo>
                    <a:pt x="21450173" y="2371598"/>
                  </a:lnTo>
                  <a:cubicBezTo>
                    <a:pt x="21462746" y="2371598"/>
                    <a:pt x="21472525" y="2361565"/>
                    <a:pt x="21472525" y="2349754"/>
                  </a:cubicBezTo>
                  <a:lnTo>
                    <a:pt x="21472525" y="59944"/>
                  </a:lnTo>
                  <a:cubicBezTo>
                    <a:pt x="21472525" y="48133"/>
                    <a:pt x="21462746" y="38100"/>
                    <a:pt x="21450173" y="38100"/>
                  </a:cubicBezTo>
                  <a:lnTo>
                    <a:pt x="60452" y="38100"/>
                  </a:lnTo>
                  <a:lnTo>
                    <a:pt x="60452" y="19050"/>
                  </a:lnTo>
                  <a:lnTo>
                    <a:pt x="60452" y="38100"/>
                  </a:lnTo>
                  <a:cubicBezTo>
                    <a:pt x="47879" y="38100"/>
                    <a:pt x="38100" y="48133"/>
                    <a:pt x="38100" y="59944"/>
                  </a:cubicBezTo>
                  <a:close/>
                </a:path>
              </a:pathLst>
            </a:custGeom>
            <a:solidFill>
              <a:srgbClr val="585F6B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120378" y="7689952"/>
            <a:ext cx="816769" cy="1721491"/>
            <a:chOff x="0" y="0"/>
            <a:chExt cx="1089025" cy="229532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89025" cy="2295271"/>
            </a:xfrm>
            <a:custGeom>
              <a:avLst/>
              <a:gdLst/>
              <a:ahLst/>
              <a:cxnLst/>
              <a:rect r="r" b="b" t="t" l="l"/>
              <a:pathLst>
                <a:path h="2295271" w="1089025">
                  <a:moveTo>
                    <a:pt x="0" y="0"/>
                  </a:moveTo>
                  <a:lnTo>
                    <a:pt x="1089025" y="0"/>
                  </a:lnTo>
                  <a:lnTo>
                    <a:pt x="1089025" y="2295271"/>
                  </a:lnTo>
                  <a:lnTo>
                    <a:pt x="0" y="2295271"/>
                  </a:lnTo>
                  <a:close/>
                </a:path>
              </a:pathLst>
            </a:custGeom>
            <a:solidFill>
              <a:srgbClr val="3F4652"/>
            </a:solidFill>
          </p:spPr>
        </p:sp>
      </p:grpSp>
      <p:sp>
        <p:nvSpPr>
          <p:cNvPr name="Freeform 36" id="36" descr="preencoded.png"/>
          <p:cNvSpPr/>
          <p:nvPr/>
        </p:nvSpPr>
        <p:spPr>
          <a:xfrm flipH="false" flipV="false" rot="0">
            <a:off x="1375620" y="8397478"/>
            <a:ext cx="306286" cy="306286"/>
          </a:xfrm>
          <a:custGeom>
            <a:avLst/>
            <a:gdLst/>
            <a:ahLst/>
            <a:cxnLst/>
            <a:rect r="r" b="b" t="t" l="l"/>
            <a:pathLst>
              <a:path h="306286" w="306286">
                <a:moveTo>
                  <a:pt x="0" y="0"/>
                </a:moveTo>
                <a:lnTo>
                  <a:pt x="306285" y="0"/>
                </a:lnTo>
                <a:lnTo>
                  <a:pt x="306285" y="306286"/>
                </a:lnTo>
                <a:lnTo>
                  <a:pt x="0" y="30628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1514" t="0" r="-1517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2105177" y="7875089"/>
            <a:ext cx="2552700" cy="337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Training Signal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105177" y="8256689"/>
            <a:ext cx="14858257" cy="950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562" b="true">
                <a:solidFill>
                  <a:srgbClr val="D6E5EF"/>
                </a:solidFill>
                <a:latin typeface="Roboto Bold"/>
                <a:ea typeface="Roboto Bold"/>
                <a:cs typeface="Roboto Bold"/>
                <a:sym typeface="Roboto Bold"/>
              </a:rPr>
              <a:t>Baseline:</a:t>
            </a:r>
            <a:r>
              <a:rPr lang="en-US" sz="1562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 Single output loss</a:t>
            </a:r>
          </a:p>
          <a:p>
            <a:pPr algn="l">
              <a:lnSpc>
                <a:spcPts val="2312"/>
              </a:lnSpc>
            </a:pPr>
            <a:r>
              <a:rPr lang="en-US" sz="1562" b="true">
                <a:solidFill>
                  <a:srgbClr val="D6E5EF"/>
                </a:solidFill>
                <a:latin typeface="Roboto Bold"/>
                <a:ea typeface="Roboto Bold"/>
                <a:cs typeface="Roboto Bold"/>
                <a:sym typeface="Roboto Bold"/>
              </a:rPr>
              <a:t>ResNet:</a:t>
            </a:r>
            <a:r>
              <a:rPr lang="en-US" sz="1562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 Same single loss</a:t>
            </a:r>
          </a:p>
          <a:p>
            <a:pPr algn="l">
              <a:lnSpc>
                <a:spcPts val="2312"/>
              </a:lnSpc>
            </a:pPr>
            <a:r>
              <a:rPr lang="en-US" sz="1562" b="true">
                <a:solidFill>
                  <a:srgbClr val="D6E5EF"/>
                </a:solidFill>
                <a:latin typeface="Roboto Bold"/>
                <a:ea typeface="Roboto Bold"/>
                <a:cs typeface="Roboto Bold"/>
                <a:sym typeface="Roboto Bold"/>
              </a:rPr>
              <a:t>V2:</a:t>
            </a:r>
            <a:r>
              <a:rPr lang="en-US" sz="1562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 Multi-level supervision with auxiliary heads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71B2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0273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580559"/>
            <a:ext cx="6844008" cy="784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62"/>
              </a:lnSpc>
            </a:pPr>
            <a:r>
              <a:rPr lang="en-US" sz="4875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Performance Summary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3109017"/>
            <a:ext cx="5227739" cy="694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7"/>
              </a:lnSpc>
            </a:pPr>
            <a:r>
              <a:rPr lang="en-US" sz="6437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1.8M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55466" y="4113905"/>
            <a:ext cx="3101130" cy="387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37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Baseline Params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4555179"/>
            <a:ext cx="5227739" cy="492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5"/>
              </a:lnSpc>
            </a:pPr>
            <a:r>
              <a:rPr lang="en-US" sz="1937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Custom encoder architecture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529978" y="3109017"/>
            <a:ext cx="5227882" cy="694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7"/>
              </a:lnSpc>
            </a:pPr>
            <a:r>
              <a:rPr lang="en-US" sz="6437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11.2M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593359" y="4113905"/>
            <a:ext cx="3101130" cy="387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37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ResNet Params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529978" y="4555179"/>
            <a:ext cx="5227882" cy="492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5"/>
              </a:lnSpc>
            </a:pPr>
            <a:r>
              <a:rPr lang="en-US" sz="1937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Pretrained encoder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067880" y="3109017"/>
            <a:ext cx="5227882" cy="694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7"/>
              </a:lnSpc>
            </a:pPr>
            <a:r>
              <a:rPr lang="en-US" sz="6437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2.5M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131251" y="4113905"/>
            <a:ext cx="3101130" cy="387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37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V2 Params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067880" y="4555179"/>
            <a:ext cx="5227882" cy="492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5"/>
              </a:lnSpc>
            </a:pPr>
            <a:r>
              <a:rPr lang="en-US" sz="1937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Enhanced decoder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92238" y="5574354"/>
            <a:ext cx="3101130" cy="387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37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Baseline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92238" y="6114755"/>
            <a:ext cx="4974584" cy="1286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0.49 F1-score, 0.33 IoU</a:t>
            </a:r>
          </a:p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Training from scratch limits feature quality</a:t>
            </a:r>
          </a:p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Weak on sparse changes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581480" y="5574354"/>
            <a:ext cx="3101130" cy="387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37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ResNet-34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581480" y="6114755"/>
            <a:ext cx="4974584" cy="1286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Improved convergence speed</a:t>
            </a:r>
          </a:p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Better low-level features</a:t>
            </a:r>
          </a:p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Higher parameter count justified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170721" y="5574354"/>
            <a:ext cx="3101130" cy="387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37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Siamese V2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170721" y="6114755"/>
            <a:ext cx="5143795" cy="1286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Best overall performance</a:t>
            </a:r>
          </a:p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Explicit change signals</a:t>
            </a:r>
          </a:p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Multi-level supervision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92238" y="7807823"/>
            <a:ext cx="16303523" cy="889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 b="true">
                <a:solidFill>
                  <a:srgbClr val="D6E5EF"/>
                </a:solidFill>
                <a:latin typeface="Roboto Bold"/>
                <a:ea typeface="Roboto Bold"/>
                <a:cs typeface="Roboto Bold"/>
                <a:sym typeface="Roboto Bold"/>
              </a:rPr>
              <a:t>Key Insight:</a:t>
            </a:r>
            <a:r>
              <a:rPr lang="en-US" sz="1937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 V2 architecture achieves best results with moderate parameter increase (2.5M) while ResNet-34 offers faster training through transfer learning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52400" y="152400"/>
            <a:ext cx="18288000" cy="10287000"/>
            <a:chOff x="0" y="0"/>
            <a:chExt cx="24384000" cy="13716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02733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8313167" y="4679004"/>
            <a:ext cx="3242896" cy="733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30"/>
              </a:lnSpc>
              <a:spcBef>
                <a:spcPct val="0"/>
              </a:spcBef>
            </a:pPr>
            <a:r>
              <a:rPr lang="en-US" sz="4737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DAHFOzJsYZk</dc:identifier>
  <dcterms:modified xsi:type="dcterms:W3CDTF">2011-08-01T06:04:30Z</dcterms:modified>
  <cp:revision>1</cp:revision>
  <dc:title>Forest-Loss-Detection-Using-Deep-Learning.pptx</dc:title>
</cp:coreProperties>
</file>